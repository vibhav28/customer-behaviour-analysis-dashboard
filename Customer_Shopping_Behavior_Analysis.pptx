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2aed27-7751-78cf-4a3c-1164b74a6bd6}">
          <p14:sldIdLst>
            <p14:sldId id="256"/>
            <p14:sldId id="257"/>
          </p14:sldIdLst>
        </p14:section>
        <p14:section name="Overview &amp; data" id="{1cf3411b-af19-1aa5-bb48-1ee5ba744a79}">
          <p14:sldIdLst>
            <p14:sldId id="258"/>
            <p14:sldId id="259"/>
            <p14:sldId id="260"/>
          </p14:sldIdLst>
        </p14:section>
        <p14:section name="Cleaning in Python" id="{55fb9a28-e63a-dedd-81a2-afb23db3d953}">
          <p14:sldIdLst>
            <p14:sldId id="261"/>
            <p14:sldId id="262"/>
            <p14:sldId id="263"/>
          </p14:sldIdLst>
        </p14:section>
        <p14:section name="SQL analysis" id="{ed0217ae-0e57-b23a-a965-e154cb460042}">
          <p14:sldIdLst>
            <p14:sldId id="264"/>
            <p14:sldId id="265"/>
            <p14:sldId id="266"/>
            <p14:sldId id="267"/>
            <p14:sldId id="268"/>
            <p14:sldId id="269"/>
            <p14:sldId id="270"/>
          </p14:sldIdLst>
        </p14:section>
        <p14:section name="Dashboard" id="{3e9a7dda-80fc-9916-f456-f23fc21f7dec}">
          <p14:sldIdLst>
            <p14:sldId id="271"/>
            <p14:sldId id="272"/>
          </p14:sldIdLst>
        </p14:section>
        <p14:section name="Recommendations" id="{d030aed4-bade-bf4f-9f85-61a95c9b9d58}">
          <p14:sldIdLst>
            <p14:sldId id="273"/>
          </p14:sldIdLst>
        </p14:section>
        <p14:section name="Limitations" id="{a24a7276-c089-9152-f28e-95fdee51c8a3}">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this is a retail shopping dataset of 3,900 purchases. The aim was to figure out who the valuable customers are, what sells, and whether the levers the business pulls (discounts, subscriptions, express shipping) actually change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C3FD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Customer Shopping Behavior Analysis</a:t>
            </a:r>
            <a:endParaRPr lang="en-US" sz="1000" dirty="0"/>
          </a:p>
        </p:txBody>
      </p:sp>
      <p:sp>
        <p:nvSpPr>
          <p:cNvPr id="3" name="Text 1"/>
          <p:cNvSpPr/>
          <p:nvPr>
            <p:ph idx="101" type="title" hasCustomPrompt="1"/>
          </p:nvPr>
        </p:nvSpPr>
        <p:spPr>
          <a:xfrm>
            <a:off x="548640" y="384048"/>
            <a:ext cx="11064240" cy="640080"/>
          </a:xfrm>
          <a:prstGeom prst="rect">
            <a:avLst/>
          </a:prstGeom>
          <a:noFill/>
          <a:ln/>
        </p:spPr>
        <p:txBody>
          <a:bodyPr wrap="square" rtlCol="0"/>
          <a:lstStyle>
            <a:lvl1pPr algn="l" indent="0" marL="0">
              <a:buNone/>
              <a:defRPr lang="en-US" sz="3200" b="1" dirty="0">
                <a:solidFill>
                  <a:schemeClr val="accent1"/>
                </a:solidFill>
              </a:defRPr>
            </a:lvl1pPr>
          </a:lstStyle>
          <a:p>
            <a:pPr algn="l" indent="0" marL="0">
              <a:buNone/>
            </a:pPr>
            <a:endParaRPr lang="en-US" sz="3200" dirty="0"/>
          </a:p>
        </p:txBody>
      </p:sp>
      <p:sp>
        <p:nvSpPr>
          <p:cNvPr id="4" name="Text 1"/>
          <p:cNvSpPr/>
          <p:nvPr>
            <p:ph idx="102" type="body" hasCustomPrompt="1"/>
          </p:nvPr>
        </p:nvSpPr>
        <p:spPr>
          <a:xfrm>
            <a:off x="548640" y="1024128"/>
            <a:ext cx="11064240" cy="45720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Customer Shopping Behavior Analysis</a:t>
            </a:r>
            <a:endParaRPr lang="en-US" sz="10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554480" y="-2103120"/>
            <a:ext cx="4206240" cy="4206240"/>
          </a:xfrm>
          <a:prstGeom prst="ellipse">
            <a:avLst/>
          </a:prstGeom>
          <a:ln w="431800">
            <a:solidFill>
              <a:srgbClr val="A9BCFF">
                <a:alpha val="65000"/>
              </a:srgbClr>
            </a:solidFill>
            <a:prstDash val="solid"/>
          </a:ln>
        </p:spPr>
      </p:sp>
      <p:sp>
        <p:nvSpPr>
          <p:cNvPr id="3" name="Shape 1"/>
          <p:cNvSpPr/>
          <p:nvPr/>
        </p:nvSpPr>
        <p:spPr>
          <a:xfrm>
            <a:off x="9509760" y="4206240"/>
            <a:ext cx="4023360" cy="4023360"/>
          </a:xfrm>
          <a:prstGeom prst="ellipse">
            <a:avLst/>
          </a:prstGeom>
          <a:ln w="431800">
            <a:solidFill>
              <a:srgbClr val="FFFFFF">
                <a:alpha val="80000"/>
              </a:srgbClr>
            </a:solidFill>
            <a:prstDash val="solid"/>
          </a:ln>
        </p:spPr>
      </p:sp>
      <p:sp>
        <p:nvSpPr>
          <p:cNvPr id="4" name="Shape 2"/>
          <p:cNvSpPr/>
          <p:nvPr/>
        </p:nvSpPr>
        <p:spPr>
          <a:xfrm>
            <a:off x="1188720" y="5486400"/>
            <a:ext cx="548640" cy="548640"/>
          </a:xfrm>
          <a:prstGeom prst="ellipse">
            <a:avLst/>
          </a:prstGeom>
          <a:solidFill>
            <a:srgbClr val="C9D3F5"/>
          </a:solidFill>
          <a:ln w="12700">
            <a:solidFill>
              <a:srgbClr val="C9D3F5"/>
            </a:solidFill>
            <a:prstDash val="solid"/>
          </a:ln>
        </p:spPr>
      </p:sp>
      <p:sp>
        <p:nvSpPr>
          <p:cNvPr id="5" name="Text 3"/>
          <p:cNvSpPr txBox="1"/>
          <p:nvPr/>
        </p:nvSpPr>
        <p:spPr>
          <a:xfrm>
            <a:off x="2377440" y="1600200"/>
            <a:ext cx="73152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DATA ANALYTICS PROJECT</a:t>
            </a:r>
            <a:endParaRPr lang="en-US" sz="1400" dirty="0"/>
          </a:p>
        </p:txBody>
      </p:sp>
      <p:sp>
        <p:nvSpPr>
          <p:cNvPr id="6" name="Text 4"/>
          <p:cNvSpPr txBox="1"/>
          <p:nvPr/>
        </p:nvSpPr>
        <p:spPr>
          <a:xfrm>
            <a:off x="2377440" y="2011680"/>
            <a:ext cx="7680960" cy="1463040"/>
          </a:xfrm>
          <a:prstGeom prst="rect">
            <a:avLst/>
          </a:prstGeom>
          <a:noFill/>
          <a:ln/>
        </p:spPr>
        <p:txBody>
          <a:bodyPr wrap="square" lIns="0" tIns="0" rIns="0" bIns="0" rtlCol="0" anchor="t"/>
          <a:lstStyle/>
          <a:p>
            <a:pPr indent="0" marL="0">
              <a:buNone/>
            </a:pPr>
            <a:r>
              <a:rPr lang="en-US" sz="4400" b="1" dirty="0">
                <a:solidFill>
                  <a:schemeClr val="bg1"/>
                </a:solidFill>
              </a:rPr>
              <a:t>Customer Shopping Behavior Analysis</a:t>
            </a:r>
            <a:endParaRPr lang="en-US" sz="4400" dirty="0"/>
          </a:p>
        </p:txBody>
      </p:sp>
      <p:sp>
        <p:nvSpPr>
          <p:cNvPr id="7" name="Text 5"/>
          <p:cNvSpPr txBox="1"/>
          <p:nvPr/>
        </p:nvSpPr>
        <p:spPr>
          <a:xfrm>
            <a:off x="2377440" y="3611880"/>
            <a:ext cx="6949440" cy="822960"/>
          </a:xfrm>
          <a:prstGeom prst="rect">
            <a:avLst/>
          </a:prstGeom>
          <a:noFill/>
          <a:ln/>
        </p:spPr>
        <p:txBody>
          <a:bodyPr wrap="square" lIns="0" tIns="0" rIns="0" bIns="0" rtlCol="0" anchor="t"/>
          <a:lstStyle/>
          <a:p>
            <a:pPr indent="0" marL="0">
              <a:buNone/>
            </a:pPr>
            <a:r>
              <a:rPr lang="en-US" sz="1600" dirty="0">
                <a:solidFill>
                  <a:schemeClr val="bg1"/>
                </a:solidFill>
              </a:rPr>
              <a:t>What 3,900 purchases tell us about who spends, what sells, and whether discounts and subscriptions are paying off.</a:t>
            </a:r>
            <a:endParaRPr lang="en-US" sz="1600" dirty="0"/>
          </a:p>
        </p:txBody>
      </p:sp>
      <p:sp>
        <p:nvSpPr>
          <p:cNvPr id="8" name="Text 6"/>
          <p:cNvSpPr txBox="1"/>
          <p:nvPr/>
        </p:nvSpPr>
        <p:spPr>
          <a:xfrm>
            <a:off x="2377440" y="4617720"/>
            <a:ext cx="5486400" cy="320040"/>
          </a:xfrm>
          <a:prstGeom prst="rect">
            <a:avLst/>
          </a:prstGeom>
          <a:noFill/>
          <a:ln/>
        </p:spPr>
        <p:txBody>
          <a:bodyPr wrap="square" lIns="0" tIns="0" rIns="0" bIns="0" rtlCol="0" anchor="t"/>
          <a:lstStyle/>
          <a:p>
            <a:pPr indent="0" marL="0">
              <a:buNone/>
            </a:pPr>
            <a:r>
              <a:rPr lang="en-US" sz="1400" b="1" dirty="0">
                <a:solidFill>
                  <a:schemeClr val="accent2"/>
                </a:solidFill>
              </a:rPr>
              <a:t>Python  ·  PostgreSQL  ·  Power BI</a:t>
            </a:r>
            <a:endParaRPr lang="en-US" sz="1400" dirty="0"/>
          </a:p>
        </p:txBody>
      </p:sp>
      <p:sp>
        <p:nvSpPr>
          <p:cNvPr id="9" name="Text 7"/>
          <p:cNvSpPr txBox="1"/>
          <p:nvPr/>
        </p:nvSpPr>
        <p:spPr>
          <a:xfrm>
            <a:off x="2377440" y="4983480"/>
            <a:ext cx="5486400" cy="320040"/>
          </a:xfrm>
          <a:prstGeom prst="rect">
            <a:avLst/>
          </a:prstGeom>
          <a:noFill/>
          <a:ln/>
        </p:spPr>
        <p:txBody>
          <a:bodyPr wrap="square" lIns="0" tIns="0" rIns="0" bIns="0" rtlCol="0" anchor="t"/>
          <a:lstStyle/>
          <a:p>
            <a:pPr indent="0" marL="0">
              <a:buNone/>
            </a:pPr>
            <a:r>
              <a:rPr lang="en-US" sz="1400" dirty="0">
                <a:solidFill>
                  <a:schemeClr val="bg1"/>
                </a:solidFill>
              </a:rPr>
              <a:t>Vibhav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chemeClr val="accent1"/>
          </a:solidFill>
          <a:ln w="12700">
            <a:solidFill>
              <a:schemeClr val="accent1"/>
            </a:solidFill>
            <a:prstDash val="solid"/>
          </a:ln>
        </p:spPr>
      </p:sp>
      <p:sp>
        <p:nvSpPr>
          <p:cNvPr id="3" name="Shape 1"/>
          <p:cNvSpPr/>
          <p:nvPr/>
        </p:nvSpPr>
        <p:spPr>
          <a:xfrm>
            <a:off x="-1280160" y="4297680"/>
            <a:ext cx="3657600" cy="3657600"/>
          </a:xfrm>
          <a:prstGeom prst="ellipse">
            <a:avLst/>
          </a:prstGeom>
          <a:ln w="381000">
            <a:solidFill>
              <a:srgbClr val="A9BCFF">
                <a:alpha val="65000"/>
              </a:srgbClr>
            </a:solidFill>
            <a:prstDash val="solid"/>
          </a:ln>
        </p:spPr>
      </p:sp>
      <p:sp>
        <p:nvSpPr>
          <p:cNvPr id="4" name="Text 2"/>
          <p:cNvSpPr txBox="1"/>
          <p:nvPr/>
        </p:nvSpPr>
        <p:spPr>
          <a:xfrm>
            <a:off x="640080" y="914400"/>
            <a:ext cx="3474720" cy="731520"/>
          </a:xfrm>
          <a:prstGeom prst="rect">
            <a:avLst/>
          </a:prstGeom>
          <a:noFill/>
          <a:ln/>
        </p:spPr>
        <p:txBody>
          <a:bodyPr wrap="square" lIns="0" tIns="0" rIns="0" bIns="0" rtlCol="0" anchor="t"/>
          <a:lstStyle/>
          <a:p>
            <a:pPr indent="0" marL="0">
              <a:buNone/>
            </a:pPr>
            <a:r>
              <a:rPr lang="en-US" sz="4000" b="1" dirty="0">
                <a:solidFill>
                  <a:schemeClr val="bg1"/>
                </a:solidFill>
              </a:rPr>
              <a:t>Contents</a:t>
            </a:r>
            <a:endParaRPr lang="en-US" sz="4000" dirty="0"/>
          </a:p>
        </p:txBody>
      </p:sp>
      <p:sp>
        <p:nvSpPr>
          <p:cNvPr id="5" name="Text 3"/>
          <p:cNvSpPr txBox="1"/>
          <p:nvPr/>
        </p:nvSpPr>
        <p:spPr>
          <a:xfrm>
            <a:off x="640080" y="1737360"/>
            <a:ext cx="3291840" cy="822960"/>
          </a:xfrm>
          <a:prstGeom prst="rect">
            <a:avLst/>
          </a:prstGeom>
          <a:noFill/>
          <a:ln/>
        </p:spPr>
        <p:txBody>
          <a:bodyPr wrap="square" lIns="0" tIns="0" rIns="0" bIns="0" rtlCol="0" anchor="t"/>
          <a:lstStyle/>
          <a:p>
            <a:pPr indent="0" marL="0">
              <a:buNone/>
            </a:pPr>
            <a:r>
              <a:rPr lang="en-US" sz="1500" dirty="0">
                <a:solidFill>
                  <a:schemeClr val="bg1"/>
                </a:solidFill>
              </a:rPr>
              <a:t>From a raw CSV to a dashboard and a short list of things to change.</a:t>
            </a:r>
            <a:endParaRPr lang="en-US" sz="1500" dirty="0"/>
          </a:p>
        </p:txBody>
      </p:sp>
      <p:sp>
        <p:nvSpPr>
          <p:cNvPr id="6" name="Shape 4"/>
          <p:cNvSpPr/>
          <p:nvPr/>
        </p:nvSpPr>
        <p:spPr>
          <a:xfrm>
            <a:off x="5212080" y="685800"/>
            <a:ext cx="603504" cy="603504"/>
          </a:xfrm>
          <a:prstGeom prst="ellipse">
            <a:avLst/>
          </a:prstGeom>
          <a:solidFill>
            <a:schemeClr val="bg1"/>
          </a:solidFill>
          <a:ln w="19050">
            <a:solidFill>
              <a:schemeClr val="accent1"/>
            </a:solidFill>
            <a:prstDash val="solid"/>
          </a:ln>
        </p:spPr>
      </p:sp>
      <p:sp>
        <p:nvSpPr>
          <p:cNvPr id="7" name="Text 5"/>
          <p:cNvSpPr txBox="1"/>
          <p:nvPr/>
        </p:nvSpPr>
        <p:spPr>
          <a:xfrm>
            <a:off x="5212080" y="685800"/>
            <a:ext cx="603504" cy="603504"/>
          </a:xfrm>
          <a:prstGeom prst="rect">
            <a:avLst/>
          </a:prstGeom>
          <a:noFill/>
          <a:ln/>
        </p:spPr>
        <p:txBody>
          <a:bodyPr wrap="square" lIns="0" tIns="0" rIns="0" bIns="0" rtlCol="0" anchor="ctr"/>
          <a:lstStyle/>
          <a:p>
            <a:pPr algn="ctr" indent="0" marL="0">
              <a:buNone/>
            </a:pPr>
            <a:r>
              <a:rPr lang="en-US" sz="1400" b="1" dirty="0">
                <a:solidFill>
                  <a:schemeClr val="accent1"/>
                </a:solidFill>
              </a:rPr>
              <a:t>01</a:t>
            </a:r>
            <a:endParaRPr lang="en-US" sz="1400" dirty="0"/>
          </a:p>
        </p:txBody>
      </p:sp>
      <p:sp>
        <p:nvSpPr>
          <p:cNvPr id="8" name="Text 6"/>
          <p:cNvSpPr txBox="1"/>
          <p:nvPr/>
        </p:nvSpPr>
        <p:spPr>
          <a:xfrm>
            <a:off x="6080760" y="704088"/>
            <a:ext cx="5486400" cy="320040"/>
          </a:xfrm>
          <a:prstGeom prst="rect">
            <a:avLst/>
          </a:prstGeom>
          <a:noFill/>
          <a:ln/>
        </p:spPr>
        <p:txBody>
          <a:bodyPr wrap="square" lIns="0" tIns="0" rIns="0" bIns="0" rtlCol="0" anchor="t"/>
          <a:lstStyle/>
          <a:p>
            <a:pPr indent="0" marL="0">
              <a:buNone/>
            </a:pPr>
            <a:r>
              <a:rPr lang="en-US" sz="1800" b="1" dirty="0">
                <a:solidFill>
                  <a:schemeClr val="tx2"/>
                </a:solidFill>
              </a:rPr>
              <a:t>Project overview &amp; data</a:t>
            </a:r>
            <a:endParaRPr lang="en-US" sz="1800" dirty="0"/>
          </a:p>
        </p:txBody>
      </p:sp>
      <p:sp>
        <p:nvSpPr>
          <p:cNvPr id="9" name="Text 7"/>
          <p:cNvSpPr txBox="1"/>
          <p:nvPr/>
        </p:nvSpPr>
        <p:spPr>
          <a:xfrm>
            <a:off x="6080760" y="1033272"/>
            <a:ext cx="5486400" cy="274320"/>
          </a:xfrm>
          <a:prstGeom prst="rect">
            <a:avLst/>
          </a:prstGeom>
          <a:noFill/>
          <a:ln/>
        </p:spPr>
        <p:txBody>
          <a:bodyPr wrap="square" lIns="0" tIns="0" rIns="0" bIns="0" rtlCol="0" anchor="t"/>
          <a:lstStyle/>
          <a:p>
            <a:pPr indent="0" marL="0">
              <a:buNone/>
            </a:pPr>
            <a:r>
              <a:rPr lang="en-US" sz="1300" dirty="0">
                <a:solidFill>
                  <a:schemeClr val="accent3"/>
                </a:solidFill>
              </a:rPr>
              <a:t>The business question and what the dataset holds</a:t>
            </a:r>
            <a:endParaRPr lang="en-US" sz="1300" dirty="0"/>
          </a:p>
        </p:txBody>
      </p:sp>
      <p:sp>
        <p:nvSpPr>
          <p:cNvPr id="10" name="Shape 8"/>
          <p:cNvSpPr/>
          <p:nvPr/>
        </p:nvSpPr>
        <p:spPr>
          <a:xfrm>
            <a:off x="5212080" y="1600200"/>
            <a:ext cx="603504" cy="603504"/>
          </a:xfrm>
          <a:prstGeom prst="ellipse">
            <a:avLst/>
          </a:prstGeom>
          <a:solidFill>
            <a:schemeClr val="bg1"/>
          </a:solidFill>
          <a:ln w="19050">
            <a:solidFill>
              <a:schemeClr val="accent1"/>
            </a:solidFill>
            <a:prstDash val="solid"/>
          </a:ln>
        </p:spPr>
      </p:sp>
      <p:sp>
        <p:nvSpPr>
          <p:cNvPr id="11" name="Text 9"/>
          <p:cNvSpPr txBox="1"/>
          <p:nvPr/>
        </p:nvSpPr>
        <p:spPr>
          <a:xfrm>
            <a:off x="5212080" y="1600200"/>
            <a:ext cx="603504" cy="603504"/>
          </a:xfrm>
          <a:prstGeom prst="rect">
            <a:avLst/>
          </a:prstGeom>
          <a:noFill/>
          <a:ln/>
        </p:spPr>
        <p:txBody>
          <a:bodyPr wrap="square" lIns="0" tIns="0" rIns="0" bIns="0" rtlCol="0" anchor="ctr"/>
          <a:lstStyle/>
          <a:p>
            <a:pPr algn="ctr" indent="0" marL="0">
              <a:buNone/>
            </a:pPr>
            <a:r>
              <a:rPr lang="en-US" sz="1400" b="1" dirty="0">
                <a:solidFill>
                  <a:schemeClr val="accent1"/>
                </a:solidFill>
              </a:rPr>
              <a:t>02</a:t>
            </a:r>
            <a:endParaRPr lang="en-US" sz="1400" dirty="0"/>
          </a:p>
        </p:txBody>
      </p:sp>
      <p:sp>
        <p:nvSpPr>
          <p:cNvPr id="12" name="Text 10"/>
          <p:cNvSpPr txBox="1"/>
          <p:nvPr/>
        </p:nvSpPr>
        <p:spPr>
          <a:xfrm>
            <a:off x="6080760" y="1618488"/>
            <a:ext cx="5486400" cy="320040"/>
          </a:xfrm>
          <a:prstGeom prst="rect">
            <a:avLst/>
          </a:prstGeom>
          <a:noFill/>
          <a:ln/>
        </p:spPr>
        <p:txBody>
          <a:bodyPr wrap="square" lIns="0" tIns="0" rIns="0" bIns="0" rtlCol="0" anchor="t"/>
          <a:lstStyle/>
          <a:p>
            <a:pPr indent="0" marL="0">
              <a:buNone/>
            </a:pPr>
            <a:r>
              <a:rPr lang="en-US" sz="1800" b="1" dirty="0">
                <a:solidFill>
                  <a:schemeClr val="tx2"/>
                </a:solidFill>
              </a:rPr>
              <a:t>Cleaning in Python</a:t>
            </a:r>
            <a:endParaRPr lang="en-US" sz="1800" dirty="0"/>
          </a:p>
        </p:txBody>
      </p:sp>
      <p:sp>
        <p:nvSpPr>
          <p:cNvPr id="13" name="Text 11"/>
          <p:cNvSpPr txBox="1"/>
          <p:nvPr/>
        </p:nvSpPr>
        <p:spPr>
          <a:xfrm>
            <a:off x="6080760" y="1947672"/>
            <a:ext cx="5486400" cy="274320"/>
          </a:xfrm>
          <a:prstGeom prst="rect">
            <a:avLst/>
          </a:prstGeom>
          <a:noFill/>
          <a:ln/>
        </p:spPr>
        <p:txBody>
          <a:bodyPr wrap="square" lIns="0" tIns="0" rIns="0" bIns="0" rtlCol="0" anchor="t"/>
          <a:lstStyle/>
          <a:p>
            <a:pPr indent="0" marL="0">
              <a:buNone/>
            </a:pPr>
            <a:r>
              <a:rPr lang="en-US" sz="1300" dirty="0">
                <a:solidFill>
                  <a:schemeClr val="accent3"/>
                </a:solidFill>
              </a:rPr>
              <a:t>Imputation, feature engineering, loading to PostgreSQL</a:t>
            </a:r>
            <a:endParaRPr lang="en-US" sz="1300" dirty="0"/>
          </a:p>
        </p:txBody>
      </p:sp>
      <p:sp>
        <p:nvSpPr>
          <p:cNvPr id="14" name="Shape 12"/>
          <p:cNvSpPr/>
          <p:nvPr/>
        </p:nvSpPr>
        <p:spPr>
          <a:xfrm>
            <a:off x="5212080" y="2514600"/>
            <a:ext cx="603504" cy="603504"/>
          </a:xfrm>
          <a:prstGeom prst="ellipse">
            <a:avLst/>
          </a:prstGeom>
          <a:solidFill>
            <a:schemeClr val="accent1"/>
          </a:solidFill>
          <a:ln w="19050">
            <a:solidFill>
              <a:schemeClr val="accent1"/>
            </a:solidFill>
            <a:prstDash val="solid"/>
          </a:ln>
        </p:spPr>
      </p:sp>
      <p:sp>
        <p:nvSpPr>
          <p:cNvPr id="15" name="Text 13"/>
          <p:cNvSpPr txBox="1"/>
          <p:nvPr/>
        </p:nvSpPr>
        <p:spPr>
          <a:xfrm>
            <a:off x="5212080" y="2514600"/>
            <a:ext cx="603504" cy="603504"/>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6" name="Text 14"/>
          <p:cNvSpPr txBox="1"/>
          <p:nvPr/>
        </p:nvSpPr>
        <p:spPr>
          <a:xfrm>
            <a:off x="6080760" y="2532888"/>
            <a:ext cx="5486400" cy="320040"/>
          </a:xfrm>
          <a:prstGeom prst="rect">
            <a:avLst/>
          </a:prstGeom>
          <a:noFill/>
          <a:ln/>
        </p:spPr>
        <p:txBody>
          <a:bodyPr wrap="square" lIns="0" tIns="0" rIns="0" bIns="0" rtlCol="0" anchor="t"/>
          <a:lstStyle/>
          <a:p>
            <a:pPr indent="0" marL="0">
              <a:buNone/>
            </a:pPr>
            <a:r>
              <a:rPr lang="en-US" sz="1800" b="1" dirty="0">
                <a:solidFill>
                  <a:schemeClr val="tx2"/>
                </a:solidFill>
              </a:rPr>
              <a:t>Ten questions in SQL</a:t>
            </a:r>
            <a:endParaRPr lang="en-US" sz="1800" dirty="0"/>
          </a:p>
        </p:txBody>
      </p:sp>
      <p:sp>
        <p:nvSpPr>
          <p:cNvPr id="17" name="Text 15"/>
          <p:cNvSpPr txBox="1"/>
          <p:nvPr/>
        </p:nvSpPr>
        <p:spPr>
          <a:xfrm>
            <a:off x="6080760" y="2862072"/>
            <a:ext cx="5486400" cy="274320"/>
          </a:xfrm>
          <a:prstGeom prst="rect">
            <a:avLst/>
          </a:prstGeom>
          <a:noFill/>
          <a:ln/>
        </p:spPr>
        <p:txBody>
          <a:bodyPr wrap="square" lIns="0" tIns="0" rIns="0" bIns="0" rtlCol="0" anchor="t"/>
          <a:lstStyle/>
          <a:p>
            <a:pPr indent="0" marL="0">
              <a:buNone/>
            </a:pPr>
            <a:r>
              <a:rPr lang="en-US" sz="1300" dirty="0">
                <a:solidFill>
                  <a:schemeClr val="accent3"/>
                </a:solidFill>
              </a:rPr>
              <a:t>Gender, subscriptions, discounts, products, shipping, age</a:t>
            </a:r>
            <a:endParaRPr lang="en-US" sz="1300" dirty="0"/>
          </a:p>
        </p:txBody>
      </p:sp>
      <p:sp>
        <p:nvSpPr>
          <p:cNvPr id="18" name="Shape 16"/>
          <p:cNvSpPr/>
          <p:nvPr/>
        </p:nvSpPr>
        <p:spPr>
          <a:xfrm>
            <a:off x="5212080" y="3429000"/>
            <a:ext cx="603504" cy="603504"/>
          </a:xfrm>
          <a:prstGeom prst="ellipse">
            <a:avLst/>
          </a:prstGeom>
          <a:solidFill>
            <a:schemeClr val="bg1"/>
          </a:solidFill>
          <a:ln w="19050">
            <a:solidFill>
              <a:schemeClr val="accent1"/>
            </a:solidFill>
            <a:prstDash val="solid"/>
          </a:ln>
        </p:spPr>
      </p:sp>
      <p:sp>
        <p:nvSpPr>
          <p:cNvPr id="19" name="Text 17"/>
          <p:cNvSpPr txBox="1"/>
          <p:nvPr/>
        </p:nvSpPr>
        <p:spPr>
          <a:xfrm>
            <a:off x="5212080" y="3429000"/>
            <a:ext cx="603504" cy="603504"/>
          </a:xfrm>
          <a:prstGeom prst="rect">
            <a:avLst/>
          </a:prstGeom>
          <a:noFill/>
          <a:ln/>
        </p:spPr>
        <p:txBody>
          <a:bodyPr wrap="square" lIns="0" tIns="0" rIns="0" bIns="0" rtlCol="0" anchor="ctr"/>
          <a:lstStyle/>
          <a:p>
            <a:pPr algn="ctr" indent="0" marL="0">
              <a:buNone/>
            </a:pPr>
            <a:r>
              <a:rPr lang="en-US" sz="1400" b="1" dirty="0">
                <a:solidFill>
                  <a:schemeClr val="accent1"/>
                </a:solidFill>
              </a:rPr>
              <a:t>04</a:t>
            </a:r>
            <a:endParaRPr lang="en-US" sz="1400" dirty="0"/>
          </a:p>
        </p:txBody>
      </p:sp>
      <p:sp>
        <p:nvSpPr>
          <p:cNvPr id="20" name="Text 18"/>
          <p:cNvSpPr txBox="1"/>
          <p:nvPr/>
        </p:nvSpPr>
        <p:spPr>
          <a:xfrm>
            <a:off x="6080760" y="3447288"/>
            <a:ext cx="5486400" cy="320040"/>
          </a:xfrm>
          <a:prstGeom prst="rect">
            <a:avLst/>
          </a:prstGeom>
          <a:noFill/>
          <a:ln/>
        </p:spPr>
        <p:txBody>
          <a:bodyPr wrap="square" lIns="0" tIns="0" rIns="0" bIns="0" rtlCol="0" anchor="t"/>
          <a:lstStyle/>
          <a:p>
            <a:pPr indent="0" marL="0">
              <a:buNone/>
            </a:pPr>
            <a:r>
              <a:rPr lang="en-US" sz="1800" b="1" dirty="0">
                <a:solidFill>
                  <a:schemeClr val="tx2"/>
                </a:solidFill>
              </a:rPr>
              <a:t>Power BI dashboard</a:t>
            </a:r>
            <a:endParaRPr lang="en-US" sz="1800" dirty="0"/>
          </a:p>
        </p:txBody>
      </p:sp>
      <p:sp>
        <p:nvSpPr>
          <p:cNvPr id="21" name="Text 19"/>
          <p:cNvSpPr txBox="1"/>
          <p:nvPr/>
        </p:nvSpPr>
        <p:spPr>
          <a:xfrm>
            <a:off x="6080760" y="3776472"/>
            <a:ext cx="5486400" cy="274320"/>
          </a:xfrm>
          <a:prstGeom prst="rect">
            <a:avLst/>
          </a:prstGeom>
          <a:noFill/>
          <a:ln/>
        </p:spPr>
        <p:txBody>
          <a:bodyPr wrap="square" lIns="0" tIns="0" rIns="0" bIns="0" rtlCol="0" anchor="t"/>
          <a:lstStyle/>
          <a:p>
            <a:pPr indent="0" marL="0">
              <a:buNone/>
            </a:pPr>
            <a:r>
              <a:rPr lang="en-US" sz="1300" dirty="0">
                <a:solidFill>
                  <a:schemeClr val="accent3"/>
                </a:solidFill>
              </a:rPr>
              <a:t>Slicers, KPI cards and the category view</a:t>
            </a:r>
            <a:endParaRPr lang="en-US" sz="1300" dirty="0"/>
          </a:p>
        </p:txBody>
      </p:sp>
      <p:sp>
        <p:nvSpPr>
          <p:cNvPr id="22" name="Shape 20"/>
          <p:cNvSpPr/>
          <p:nvPr/>
        </p:nvSpPr>
        <p:spPr>
          <a:xfrm>
            <a:off x="5212080" y="4343400"/>
            <a:ext cx="603504" cy="603504"/>
          </a:xfrm>
          <a:prstGeom prst="ellipse">
            <a:avLst/>
          </a:prstGeom>
          <a:solidFill>
            <a:schemeClr val="bg1"/>
          </a:solidFill>
          <a:ln w="19050">
            <a:solidFill>
              <a:schemeClr val="accent1"/>
            </a:solidFill>
            <a:prstDash val="solid"/>
          </a:ln>
        </p:spPr>
      </p:sp>
      <p:sp>
        <p:nvSpPr>
          <p:cNvPr id="23" name="Text 21"/>
          <p:cNvSpPr txBox="1"/>
          <p:nvPr/>
        </p:nvSpPr>
        <p:spPr>
          <a:xfrm>
            <a:off x="5212080" y="4343400"/>
            <a:ext cx="603504" cy="603504"/>
          </a:xfrm>
          <a:prstGeom prst="rect">
            <a:avLst/>
          </a:prstGeom>
          <a:noFill/>
          <a:ln/>
        </p:spPr>
        <p:txBody>
          <a:bodyPr wrap="square" lIns="0" tIns="0" rIns="0" bIns="0" rtlCol="0" anchor="ctr"/>
          <a:lstStyle/>
          <a:p>
            <a:pPr algn="ctr" indent="0" marL="0">
              <a:buNone/>
            </a:pPr>
            <a:r>
              <a:rPr lang="en-US" sz="1400" b="1" dirty="0">
                <a:solidFill>
                  <a:schemeClr val="accent1"/>
                </a:solidFill>
              </a:rPr>
              <a:t>05</a:t>
            </a:r>
            <a:endParaRPr lang="en-US" sz="1400" dirty="0"/>
          </a:p>
        </p:txBody>
      </p:sp>
      <p:sp>
        <p:nvSpPr>
          <p:cNvPr id="24" name="Text 22"/>
          <p:cNvSpPr txBox="1"/>
          <p:nvPr/>
        </p:nvSpPr>
        <p:spPr>
          <a:xfrm>
            <a:off x="6080760" y="4361688"/>
            <a:ext cx="5486400" cy="320040"/>
          </a:xfrm>
          <a:prstGeom prst="rect">
            <a:avLst/>
          </a:prstGeom>
          <a:noFill/>
          <a:ln/>
        </p:spPr>
        <p:txBody>
          <a:bodyPr wrap="square" lIns="0" tIns="0" rIns="0" bIns="0" rtlCol="0" anchor="t"/>
          <a:lstStyle/>
          <a:p>
            <a:pPr indent="0" marL="0">
              <a:buNone/>
            </a:pPr>
            <a:r>
              <a:rPr lang="en-US" sz="1800" b="1" dirty="0">
                <a:solidFill>
                  <a:schemeClr val="tx2"/>
                </a:solidFill>
              </a:rPr>
              <a:t>Recommendations</a:t>
            </a:r>
            <a:endParaRPr lang="en-US" sz="1800" dirty="0"/>
          </a:p>
        </p:txBody>
      </p:sp>
      <p:sp>
        <p:nvSpPr>
          <p:cNvPr id="25" name="Text 23"/>
          <p:cNvSpPr txBox="1"/>
          <p:nvPr/>
        </p:nvSpPr>
        <p:spPr>
          <a:xfrm>
            <a:off x="6080760" y="4690872"/>
            <a:ext cx="5486400" cy="274320"/>
          </a:xfrm>
          <a:prstGeom prst="rect">
            <a:avLst/>
          </a:prstGeom>
          <a:noFill/>
          <a:ln/>
        </p:spPr>
        <p:txBody>
          <a:bodyPr wrap="square" lIns="0" tIns="0" rIns="0" bIns="0" rtlCol="0" anchor="t"/>
          <a:lstStyle/>
          <a:p>
            <a:pPr indent="0" marL="0">
              <a:buNone/>
            </a:pPr>
            <a:r>
              <a:rPr lang="en-US" sz="1300" dirty="0">
                <a:solidFill>
                  <a:schemeClr val="accent3"/>
                </a:solidFill>
              </a:rPr>
              <a:t>Six actions the numbers support</a:t>
            </a:r>
            <a:endParaRPr lang="en-US" sz="1300" dirty="0"/>
          </a:p>
        </p:txBody>
      </p:sp>
      <p:sp>
        <p:nvSpPr>
          <p:cNvPr id="26" name="Shape 24"/>
          <p:cNvSpPr/>
          <p:nvPr/>
        </p:nvSpPr>
        <p:spPr>
          <a:xfrm>
            <a:off x="5212080" y="5257800"/>
            <a:ext cx="603504" cy="603504"/>
          </a:xfrm>
          <a:prstGeom prst="ellipse">
            <a:avLst/>
          </a:prstGeom>
          <a:solidFill>
            <a:schemeClr val="bg1"/>
          </a:solidFill>
          <a:ln w="19050">
            <a:solidFill>
              <a:schemeClr val="accent1"/>
            </a:solidFill>
            <a:prstDash val="solid"/>
          </a:ln>
        </p:spPr>
      </p:sp>
      <p:sp>
        <p:nvSpPr>
          <p:cNvPr id="27" name="Text 25"/>
          <p:cNvSpPr txBox="1"/>
          <p:nvPr/>
        </p:nvSpPr>
        <p:spPr>
          <a:xfrm>
            <a:off x="5212080" y="5257800"/>
            <a:ext cx="603504" cy="603504"/>
          </a:xfrm>
          <a:prstGeom prst="rect">
            <a:avLst/>
          </a:prstGeom>
          <a:noFill/>
          <a:ln/>
        </p:spPr>
        <p:txBody>
          <a:bodyPr wrap="square" lIns="0" tIns="0" rIns="0" bIns="0" rtlCol="0" anchor="ctr"/>
          <a:lstStyle/>
          <a:p>
            <a:pPr algn="ctr" indent="0" marL="0">
              <a:buNone/>
            </a:pPr>
            <a:r>
              <a:rPr lang="en-US" sz="1400" b="1" dirty="0">
                <a:solidFill>
                  <a:schemeClr val="accent1"/>
                </a:solidFill>
              </a:rPr>
              <a:t>06</a:t>
            </a:r>
            <a:endParaRPr lang="en-US" sz="1400" dirty="0"/>
          </a:p>
        </p:txBody>
      </p:sp>
      <p:sp>
        <p:nvSpPr>
          <p:cNvPr id="28" name="Text 26"/>
          <p:cNvSpPr txBox="1"/>
          <p:nvPr/>
        </p:nvSpPr>
        <p:spPr>
          <a:xfrm>
            <a:off x="6080760" y="5276088"/>
            <a:ext cx="5486400" cy="320040"/>
          </a:xfrm>
          <a:prstGeom prst="rect">
            <a:avLst/>
          </a:prstGeom>
          <a:noFill/>
          <a:ln/>
        </p:spPr>
        <p:txBody>
          <a:bodyPr wrap="square" lIns="0" tIns="0" rIns="0" bIns="0" rtlCol="0" anchor="t"/>
          <a:lstStyle/>
          <a:p>
            <a:pPr indent="0" marL="0">
              <a:buNone/>
            </a:pPr>
            <a:r>
              <a:rPr lang="en-US" sz="1800" b="1" dirty="0">
                <a:solidFill>
                  <a:schemeClr val="tx2"/>
                </a:solidFill>
              </a:rPr>
              <a:t>Limitations &amp; next steps</a:t>
            </a:r>
            <a:endParaRPr lang="en-US" sz="1800" dirty="0"/>
          </a:p>
        </p:txBody>
      </p:sp>
      <p:sp>
        <p:nvSpPr>
          <p:cNvPr id="29" name="Text 27"/>
          <p:cNvSpPr txBox="1"/>
          <p:nvPr/>
        </p:nvSpPr>
        <p:spPr>
          <a:xfrm>
            <a:off x="6080760" y="5605272"/>
            <a:ext cx="5486400" cy="274320"/>
          </a:xfrm>
          <a:prstGeom prst="rect">
            <a:avLst/>
          </a:prstGeom>
          <a:noFill/>
          <a:ln/>
        </p:spPr>
        <p:txBody>
          <a:bodyPr wrap="square" lIns="0" tIns="0" rIns="0" bIns="0" rtlCol="0" anchor="t"/>
          <a:lstStyle/>
          <a:p>
            <a:pPr indent="0" marL="0">
              <a:buNone/>
            </a:pPr>
            <a:r>
              <a:rPr lang="en-US" sz="1300" dirty="0">
                <a:solidFill>
                  <a:schemeClr val="accent3"/>
                </a:solidFill>
              </a:rPr>
              <a:t>Where the data stops being trustworthy</a:t>
            </a:r>
            <a:endParaRPr lang="en-US" sz="13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The business question</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A retailer wants to know where its revenue really comes from, and which of its levers are working.</a:t>
            </a:r>
            <a:endParaRPr lang="en-US" sz="1600" dirty="0"/>
          </a:p>
        </p:txBody>
      </p:sp>
      <p:sp>
        <p:nvSpPr>
          <p:cNvPr id="4" name="Text 2"/>
          <p:cNvSpPr txBox="1"/>
          <p:nvPr/>
        </p:nvSpPr>
        <p:spPr>
          <a:xfrm>
            <a:off x="548640" y="1691640"/>
            <a:ext cx="6126480" cy="1280160"/>
          </a:xfrm>
          <a:prstGeom prst="rect">
            <a:avLst/>
          </a:prstGeom>
          <a:noFill/>
          <a:ln/>
        </p:spPr>
        <p:txBody>
          <a:bodyPr wrap="square" lIns="0" tIns="0" rIns="0" bIns="0" rtlCol="0" anchor="t"/>
          <a:lstStyle/>
          <a:p>
            <a:pPr indent="0" marL="0">
              <a:buNone/>
            </a:pPr>
            <a:r>
              <a:rPr lang="en-US" sz="1500" dirty="0">
                <a:solidFill>
                  <a:schemeClr val="tx1"/>
                </a:solidFill>
              </a:rPr>
              <a:t>The company runs discounts, a subscription program and several shipping options, but has never checked whether any of them change how much people spend. This project answers that from the purchase data, in three stages: Python for cleaning, SQL for the questions, Power BI for the dashboard.</a:t>
            </a:r>
            <a:endParaRPr lang="en-US" sz="1500" dirty="0"/>
          </a:p>
        </p:txBody>
      </p:sp>
      <p:sp>
        <p:nvSpPr>
          <p:cNvPr id="5" name="Shape 3"/>
          <p:cNvSpPr/>
          <p:nvPr/>
        </p:nvSpPr>
        <p:spPr>
          <a:xfrm>
            <a:off x="548640" y="3200400"/>
            <a:ext cx="2971800" cy="1353312"/>
          </a:xfrm>
          <a:prstGeom prst="roundRect">
            <a:avLst>
              <a:gd name="adj" fmla="val 5405"/>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6" name="Shape 4"/>
          <p:cNvSpPr/>
          <p:nvPr/>
        </p:nvSpPr>
        <p:spPr>
          <a:xfrm>
            <a:off x="749808" y="3429000"/>
            <a:ext cx="566928" cy="566928"/>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902879" y="3582071"/>
            <a:ext cx="260787" cy="260787"/>
          </a:xfrm>
          <a:prstGeom prst="rect">
            <a:avLst/>
          </a:prstGeom>
        </p:spPr>
      </p:pic>
      <p:sp>
        <p:nvSpPr>
          <p:cNvPr id="8" name="Text 5"/>
          <p:cNvSpPr txBox="1"/>
          <p:nvPr/>
        </p:nvSpPr>
        <p:spPr>
          <a:xfrm>
            <a:off x="1463040" y="3419856"/>
            <a:ext cx="1920240" cy="320040"/>
          </a:xfrm>
          <a:prstGeom prst="rect">
            <a:avLst/>
          </a:prstGeom>
          <a:noFill/>
          <a:ln/>
        </p:spPr>
        <p:txBody>
          <a:bodyPr wrap="square" lIns="0" tIns="0" rIns="0" bIns="0" rtlCol="0" anchor="t"/>
          <a:lstStyle/>
          <a:p>
            <a:pPr indent="0" marL="0">
              <a:buNone/>
            </a:pPr>
            <a:r>
              <a:rPr lang="en-US" sz="1500" b="1" dirty="0">
                <a:solidFill>
                  <a:schemeClr val="tx2"/>
                </a:solidFill>
              </a:rPr>
              <a:t>Who spends most</a:t>
            </a:r>
            <a:endParaRPr lang="en-US" sz="1500" dirty="0"/>
          </a:p>
        </p:txBody>
      </p:sp>
      <p:sp>
        <p:nvSpPr>
          <p:cNvPr id="9" name="Text 6"/>
          <p:cNvSpPr txBox="1"/>
          <p:nvPr/>
        </p:nvSpPr>
        <p:spPr>
          <a:xfrm>
            <a:off x="1463040" y="3767328"/>
            <a:ext cx="1920240" cy="640080"/>
          </a:xfrm>
          <a:prstGeom prst="rect">
            <a:avLst/>
          </a:prstGeom>
          <a:noFill/>
          <a:ln/>
        </p:spPr>
        <p:txBody>
          <a:bodyPr wrap="square" lIns="0" tIns="0" rIns="0" bIns="0" rtlCol="0" anchor="t"/>
          <a:lstStyle/>
          <a:p>
            <a:pPr indent="0" marL="0">
              <a:buNone/>
            </a:pPr>
            <a:r>
              <a:rPr lang="en-US" sz="1200" dirty="0">
                <a:solidFill>
                  <a:schemeClr val="accent3"/>
                </a:solidFill>
              </a:rPr>
              <a:t>Gender, age group and subscriber status</a:t>
            </a:r>
            <a:endParaRPr lang="en-US" sz="1200" dirty="0"/>
          </a:p>
        </p:txBody>
      </p:sp>
      <p:sp>
        <p:nvSpPr>
          <p:cNvPr id="10" name="Shape 7"/>
          <p:cNvSpPr/>
          <p:nvPr/>
        </p:nvSpPr>
        <p:spPr>
          <a:xfrm>
            <a:off x="3703320" y="3200400"/>
            <a:ext cx="2971800" cy="1353312"/>
          </a:xfrm>
          <a:prstGeom prst="roundRect">
            <a:avLst>
              <a:gd name="adj" fmla="val 5405"/>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1" name="Shape 8"/>
          <p:cNvSpPr/>
          <p:nvPr/>
        </p:nvSpPr>
        <p:spPr>
          <a:xfrm>
            <a:off x="3904488" y="3429000"/>
            <a:ext cx="566928" cy="566928"/>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4057559" y="3582071"/>
            <a:ext cx="260787" cy="260787"/>
          </a:xfrm>
          <a:prstGeom prst="rect">
            <a:avLst/>
          </a:prstGeom>
        </p:spPr>
      </p:pic>
      <p:sp>
        <p:nvSpPr>
          <p:cNvPr id="13" name="Text 9"/>
          <p:cNvSpPr txBox="1"/>
          <p:nvPr/>
        </p:nvSpPr>
        <p:spPr>
          <a:xfrm>
            <a:off x="4617720" y="3419856"/>
            <a:ext cx="1920240" cy="320040"/>
          </a:xfrm>
          <a:prstGeom prst="rect">
            <a:avLst/>
          </a:prstGeom>
          <a:noFill/>
          <a:ln/>
        </p:spPr>
        <p:txBody>
          <a:bodyPr wrap="square" lIns="0" tIns="0" rIns="0" bIns="0" rtlCol="0" anchor="t"/>
          <a:lstStyle/>
          <a:p>
            <a:pPr indent="0" marL="0">
              <a:buNone/>
            </a:pPr>
            <a:r>
              <a:rPr lang="en-US" sz="1500" b="1" dirty="0">
                <a:solidFill>
                  <a:schemeClr val="tx2"/>
                </a:solidFill>
              </a:rPr>
              <a:t>What sells</a:t>
            </a:r>
            <a:endParaRPr lang="en-US" sz="1500" dirty="0"/>
          </a:p>
        </p:txBody>
      </p:sp>
      <p:sp>
        <p:nvSpPr>
          <p:cNvPr id="14" name="Text 10"/>
          <p:cNvSpPr txBox="1"/>
          <p:nvPr/>
        </p:nvSpPr>
        <p:spPr>
          <a:xfrm>
            <a:off x="4617720" y="3767328"/>
            <a:ext cx="1920240" cy="640080"/>
          </a:xfrm>
          <a:prstGeom prst="rect">
            <a:avLst/>
          </a:prstGeom>
          <a:noFill/>
          <a:ln/>
        </p:spPr>
        <p:txBody>
          <a:bodyPr wrap="square" lIns="0" tIns="0" rIns="0" bIns="0" rtlCol="0" anchor="t"/>
          <a:lstStyle/>
          <a:p>
            <a:pPr indent="0" marL="0">
              <a:buNone/>
            </a:pPr>
            <a:r>
              <a:rPr lang="en-US" sz="1200" dirty="0">
                <a:solidFill>
                  <a:schemeClr val="accent3"/>
                </a:solidFill>
              </a:rPr>
              <a:t>Products and categories by sales, rating, discount use</a:t>
            </a:r>
            <a:endParaRPr lang="en-US" sz="1200" dirty="0"/>
          </a:p>
        </p:txBody>
      </p:sp>
      <p:sp>
        <p:nvSpPr>
          <p:cNvPr id="15" name="Shape 11"/>
          <p:cNvSpPr/>
          <p:nvPr/>
        </p:nvSpPr>
        <p:spPr>
          <a:xfrm>
            <a:off x="548640" y="4736592"/>
            <a:ext cx="2971800" cy="1353312"/>
          </a:xfrm>
          <a:prstGeom prst="roundRect">
            <a:avLst>
              <a:gd name="adj" fmla="val 5405"/>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6" name="Shape 12"/>
          <p:cNvSpPr/>
          <p:nvPr/>
        </p:nvSpPr>
        <p:spPr>
          <a:xfrm>
            <a:off x="749808" y="4965192"/>
            <a:ext cx="566928" cy="566928"/>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902879" y="5118263"/>
            <a:ext cx="260787" cy="260787"/>
          </a:xfrm>
          <a:prstGeom prst="rect">
            <a:avLst/>
          </a:prstGeom>
        </p:spPr>
      </p:pic>
      <p:sp>
        <p:nvSpPr>
          <p:cNvPr id="18" name="Text 13"/>
          <p:cNvSpPr txBox="1"/>
          <p:nvPr/>
        </p:nvSpPr>
        <p:spPr>
          <a:xfrm>
            <a:off x="1463040" y="4956048"/>
            <a:ext cx="1920240" cy="320040"/>
          </a:xfrm>
          <a:prstGeom prst="rect">
            <a:avLst/>
          </a:prstGeom>
          <a:noFill/>
          <a:ln/>
        </p:spPr>
        <p:txBody>
          <a:bodyPr wrap="square" lIns="0" tIns="0" rIns="0" bIns="0" rtlCol="0" anchor="t"/>
          <a:lstStyle/>
          <a:p>
            <a:pPr indent="0" marL="0">
              <a:buNone/>
            </a:pPr>
            <a:r>
              <a:rPr lang="en-US" sz="1500" b="1" dirty="0">
                <a:solidFill>
                  <a:schemeClr val="tx2"/>
                </a:solidFill>
              </a:rPr>
              <a:t>Do the levers work</a:t>
            </a:r>
            <a:endParaRPr lang="en-US" sz="1500" dirty="0"/>
          </a:p>
        </p:txBody>
      </p:sp>
      <p:sp>
        <p:nvSpPr>
          <p:cNvPr id="19" name="Text 14"/>
          <p:cNvSpPr txBox="1"/>
          <p:nvPr/>
        </p:nvSpPr>
        <p:spPr>
          <a:xfrm>
            <a:off x="1463040" y="5303520"/>
            <a:ext cx="1920240" cy="640080"/>
          </a:xfrm>
          <a:prstGeom prst="rect">
            <a:avLst/>
          </a:prstGeom>
          <a:noFill/>
          <a:ln/>
        </p:spPr>
        <p:txBody>
          <a:bodyPr wrap="square" lIns="0" tIns="0" rIns="0" bIns="0" rtlCol="0" anchor="t"/>
          <a:lstStyle/>
          <a:p>
            <a:pPr indent="0" marL="0">
              <a:buNone/>
            </a:pPr>
            <a:r>
              <a:rPr lang="en-US" sz="1200" dirty="0">
                <a:solidFill>
                  <a:schemeClr val="accent3"/>
                </a:solidFill>
              </a:rPr>
              <a:t>Subscriptions, discounts and express shipping</a:t>
            </a:r>
            <a:endParaRPr lang="en-US" sz="1200" dirty="0"/>
          </a:p>
        </p:txBody>
      </p:sp>
      <p:sp>
        <p:nvSpPr>
          <p:cNvPr id="20" name="Shape 15"/>
          <p:cNvSpPr/>
          <p:nvPr/>
        </p:nvSpPr>
        <p:spPr>
          <a:xfrm>
            <a:off x="3703320" y="4736592"/>
            <a:ext cx="2971800" cy="1353312"/>
          </a:xfrm>
          <a:prstGeom prst="roundRect">
            <a:avLst>
              <a:gd name="adj" fmla="val 5405"/>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21" name="Shape 16"/>
          <p:cNvSpPr/>
          <p:nvPr/>
        </p:nvSpPr>
        <p:spPr>
          <a:xfrm>
            <a:off x="3904488" y="4965192"/>
            <a:ext cx="566928" cy="566928"/>
          </a:xfrm>
          <a:prstGeom prst="ellipse">
            <a:avLst/>
          </a:prstGeom>
          <a:solidFill>
            <a:schemeClr val="accent1"/>
          </a:solidFill>
          <a:ln w="12700">
            <a:solidFill>
              <a:schemeClr val="accent1"/>
            </a:solidFill>
            <a:prstDash val="solid"/>
          </a:ln>
        </p:spPr>
      </p:sp>
      <p:pic>
        <p:nvPicPr>
          <p:cNvPr id="22" name="Image 3" descr="preencoded.png">    </p:cNvPr>
          <p:cNvPicPr>
            <a:picLocks noChangeAspect="1"/>
          </p:cNvPicPr>
          <p:nvPr/>
        </p:nvPicPr>
        <p:blipFill>
          <a:blip r:embed="rId4"/>
          <a:stretch>
            <a:fillRect/>
          </a:stretch>
        </p:blipFill>
        <p:spPr>
          <a:xfrm>
            <a:off x="4057559" y="5118263"/>
            <a:ext cx="260787" cy="260787"/>
          </a:xfrm>
          <a:prstGeom prst="rect">
            <a:avLst/>
          </a:prstGeom>
        </p:spPr>
      </p:pic>
      <p:sp>
        <p:nvSpPr>
          <p:cNvPr id="23" name="Text 17"/>
          <p:cNvSpPr txBox="1"/>
          <p:nvPr/>
        </p:nvSpPr>
        <p:spPr>
          <a:xfrm>
            <a:off x="4617720" y="4956048"/>
            <a:ext cx="1920240" cy="320040"/>
          </a:xfrm>
          <a:prstGeom prst="rect">
            <a:avLst/>
          </a:prstGeom>
          <a:noFill/>
          <a:ln/>
        </p:spPr>
        <p:txBody>
          <a:bodyPr wrap="square" lIns="0" tIns="0" rIns="0" bIns="0" rtlCol="0" anchor="t"/>
          <a:lstStyle/>
          <a:p>
            <a:pPr indent="0" marL="0">
              <a:buNone/>
            </a:pPr>
            <a:r>
              <a:rPr lang="en-US" sz="1500" b="1" dirty="0">
                <a:solidFill>
                  <a:schemeClr val="tx2"/>
                </a:solidFill>
              </a:rPr>
              <a:t>What to do next</a:t>
            </a:r>
            <a:endParaRPr lang="en-US" sz="1500" dirty="0"/>
          </a:p>
        </p:txBody>
      </p:sp>
      <p:sp>
        <p:nvSpPr>
          <p:cNvPr id="24" name="Text 18"/>
          <p:cNvSpPr txBox="1"/>
          <p:nvPr/>
        </p:nvSpPr>
        <p:spPr>
          <a:xfrm>
            <a:off x="4617720" y="5303520"/>
            <a:ext cx="1920240" cy="640080"/>
          </a:xfrm>
          <a:prstGeom prst="rect">
            <a:avLst/>
          </a:prstGeom>
          <a:noFill/>
          <a:ln/>
        </p:spPr>
        <p:txBody>
          <a:bodyPr wrap="square" lIns="0" tIns="0" rIns="0" bIns="0" rtlCol="0" anchor="t"/>
          <a:lstStyle/>
          <a:p>
            <a:pPr indent="0" marL="0">
              <a:buNone/>
            </a:pPr>
            <a:r>
              <a:rPr lang="en-US" sz="1200" dirty="0">
                <a:solidFill>
                  <a:schemeClr val="accent3"/>
                </a:solidFill>
              </a:rPr>
              <a:t>Recommendations the business can act on</a:t>
            </a:r>
            <a:endParaRPr lang="en-US" sz="1200" dirty="0"/>
          </a:p>
        </p:txBody>
      </p:sp>
      <p:sp>
        <p:nvSpPr>
          <p:cNvPr id="25" name="Shape 19"/>
          <p:cNvSpPr/>
          <p:nvPr/>
        </p:nvSpPr>
        <p:spPr>
          <a:xfrm>
            <a:off x="7086600" y="1691640"/>
            <a:ext cx="4553712" cy="4389120"/>
          </a:xfrm>
          <a:prstGeom prst="roundRect">
            <a:avLst>
              <a:gd name="adj" fmla="val 1667"/>
            </a:avLst>
          </a:prstGeom>
          <a:solidFill>
            <a:schemeClr val="accent1"/>
          </a:solidFill>
          <a:ln w="12700">
            <a:solidFill>
              <a:schemeClr val="accent1"/>
            </a:solidFill>
            <a:prstDash val="solid"/>
          </a:ln>
        </p:spPr>
      </p:sp>
      <p:sp>
        <p:nvSpPr>
          <p:cNvPr id="26" name="Text 20"/>
          <p:cNvSpPr txBox="1"/>
          <p:nvPr/>
        </p:nvSpPr>
        <p:spPr>
          <a:xfrm>
            <a:off x="7498080" y="2103120"/>
            <a:ext cx="3657600" cy="868680"/>
          </a:xfrm>
          <a:prstGeom prst="rect">
            <a:avLst/>
          </a:prstGeom>
          <a:noFill/>
          <a:ln/>
        </p:spPr>
        <p:txBody>
          <a:bodyPr wrap="square" lIns="0" tIns="0" rIns="0" bIns="0" rtlCol="0" anchor="t"/>
          <a:lstStyle/>
          <a:p>
            <a:pPr indent="0" marL="0">
              <a:buNone/>
            </a:pPr>
            <a:r>
              <a:rPr lang="en-US" sz="6000" b="1" dirty="0">
                <a:solidFill>
                  <a:schemeClr val="bg1"/>
                </a:solidFill>
              </a:rPr>
              <a:t>3,900</a:t>
            </a:r>
            <a:endParaRPr lang="en-US" sz="6000" dirty="0"/>
          </a:p>
        </p:txBody>
      </p:sp>
      <p:sp>
        <p:nvSpPr>
          <p:cNvPr id="27" name="Text 21"/>
          <p:cNvSpPr txBox="1"/>
          <p:nvPr/>
        </p:nvSpPr>
        <p:spPr>
          <a:xfrm>
            <a:off x="7498080" y="2971800"/>
            <a:ext cx="3657600" cy="365760"/>
          </a:xfrm>
          <a:prstGeom prst="rect">
            <a:avLst/>
          </a:prstGeom>
          <a:noFill/>
          <a:ln/>
        </p:spPr>
        <p:txBody>
          <a:bodyPr wrap="square" lIns="0" tIns="0" rIns="0" bIns="0" rtlCol="0" anchor="t"/>
          <a:lstStyle/>
          <a:p>
            <a:pPr indent="0" marL="0">
              <a:buNone/>
            </a:pPr>
            <a:r>
              <a:rPr lang="en-US" sz="1500" dirty="0">
                <a:solidFill>
                  <a:schemeClr val="bg1"/>
                </a:solidFill>
              </a:rPr>
              <a:t>purchase records, one row each</a:t>
            </a:r>
            <a:endParaRPr lang="en-US" sz="1500" dirty="0"/>
          </a:p>
        </p:txBody>
      </p:sp>
      <p:sp>
        <p:nvSpPr>
          <p:cNvPr id="28" name="Shape 22"/>
          <p:cNvSpPr/>
          <p:nvPr/>
        </p:nvSpPr>
        <p:spPr>
          <a:xfrm>
            <a:off x="7498080" y="3703320"/>
            <a:ext cx="3749040" cy="0"/>
          </a:xfrm>
          <a:prstGeom prst="line">
            <a:avLst/>
          </a:prstGeom>
          <a:noFill/>
          <a:ln w="12700">
            <a:solidFill>
              <a:srgbClr val="A9BCFF"/>
            </a:solidFill>
            <a:prstDash val="solid"/>
          </a:ln>
        </p:spPr>
      </p:sp>
      <p:sp>
        <p:nvSpPr>
          <p:cNvPr id="29" name="Text 23"/>
          <p:cNvSpPr txBox="1"/>
          <p:nvPr/>
        </p:nvSpPr>
        <p:spPr>
          <a:xfrm>
            <a:off x="7498080" y="4023360"/>
            <a:ext cx="3931920" cy="868680"/>
          </a:xfrm>
          <a:prstGeom prst="rect">
            <a:avLst/>
          </a:prstGeom>
          <a:noFill/>
          <a:ln/>
        </p:spPr>
        <p:txBody>
          <a:bodyPr wrap="square" lIns="0" tIns="0" rIns="0" bIns="0" rtlCol="0" anchor="t"/>
          <a:lstStyle/>
          <a:p>
            <a:pPr indent="0" marL="0">
              <a:buNone/>
            </a:pPr>
            <a:r>
              <a:rPr lang="en-US" sz="5400" b="1" dirty="0">
                <a:solidFill>
                  <a:schemeClr val="bg1"/>
                </a:solidFill>
              </a:rPr>
              <a:t>$233,081</a:t>
            </a:r>
            <a:endParaRPr lang="en-US" sz="5400" dirty="0"/>
          </a:p>
        </p:txBody>
      </p:sp>
      <p:sp>
        <p:nvSpPr>
          <p:cNvPr id="30" name="Text 24"/>
          <p:cNvSpPr txBox="1"/>
          <p:nvPr/>
        </p:nvSpPr>
        <p:spPr>
          <a:xfrm>
            <a:off x="7498080" y="4892040"/>
            <a:ext cx="3840480" cy="640080"/>
          </a:xfrm>
          <a:prstGeom prst="rect">
            <a:avLst/>
          </a:prstGeom>
          <a:noFill/>
          <a:ln/>
        </p:spPr>
        <p:txBody>
          <a:bodyPr wrap="square" lIns="0" tIns="0" rIns="0" bIns="0" rtlCol="0" anchor="t"/>
          <a:lstStyle/>
          <a:p>
            <a:pPr indent="0" marL="0">
              <a:buNone/>
            </a:pPr>
            <a:r>
              <a:rPr lang="en-US" sz="1500" dirty="0">
                <a:solidFill>
                  <a:schemeClr val="bg1"/>
                </a:solidFill>
              </a:rPr>
              <a:t>total revenue across 25 items and 4 categories</a:t>
            </a:r>
            <a:endParaRPr lang="en-US" sz="15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The dataset at a glance</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3,900 rows and 18 columns covering who bought, what they bought, and how.</a:t>
            </a:r>
            <a:endParaRPr lang="en-US" sz="1600" dirty="0"/>
          </a:p>
        </p:txBody>
      </p:sp>
      <p:sp>
        <p:nvSpPr>
          <p:cNvPr id="4" name="Shape 2"/>
          <p:cNvSpPr/>
          <p:nvPr/>
        </p:nvSpPr>
        <p:spPr>
          <a:xfrm>
            <a:off x="548640" y="1691640"/>
            <a:ext cx="2651760" cy="1234440"/>
          </a:xfrm>
          <a:prstGeom prst="roundRect">
            <a:avLst>
              <a:gd name="adj" fmla="val 592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5" name="Text 3"/>
          <p:cNvSpPr txBox="1"/>
          <p:nvPr/>
        </p:nvSpPr>
        <p:spPr>
          <a:xfrm>
            <a:off x="822960" y="1828800"/>
            <a:ext cx="2194560" cy="640080"/>
          </a:xfrm>
          <a:prstGeom prst="rect">
            <a:avLst/>
          </a:prstGeom>
          <a:noFill/>
          <a:ln/>
        </p:spPr>
        <p:txBody>
          <a:bodyPr wrap="square" lIns="0" tIns="0" rIns="0" bIns="0" rtlCol="0" anchor="t"/>
          <a:lstStyle/>
          <a:p>
            <a:pPr indent="0" marL="0">
              <a:buNone/>
            </a:pPr>
            <a:r>
              <a:rPr lang="en-US" sz="3200" b="1" dirty="0">
                <a:solidFill>
                  <a:schemeClr val="accent1"/>
                </a:solidFill>
              </a:rPr>
              <a:t>3,900</a:t>
            </a:r>
            <a:endParaRPr lang="en-US" sz="3200" dirty="0"/>
          </a:p>
        </p:txBody>
      </p:sp>
      <p:sp>
        <p:nvSpPr>
          <p:cNvPr id="6" name="Text 4"/>
          <p:cNvSpPr txBox="1"/>
          <p:nvPr/>
        </p:nvSpPr>
        <p:spPr>
          <a:xfrm>
            <a:off x="822960" y="2468880"/>
            <a:ext cx="2194560" cy="320040"/>
          </a:xfrm>
          <a:prstGeom prst="rect">
            <a:avLst/>
          </a:prstGeom>
          <a:noFill/>
          <a:ln/>
        </p:spPr>
        <p:txBody>
          <a:bodyPr wrap="square" lIns="0" tIns="0" rIns="0" bIns="0" rtlCol="0" anchor="t"/>
          <a:lstStyle/>
          <a:p>
            <a:pPr indent="0" marL="0">
              <a:buNone/>
            </a:pPr>
            <a:r>
              <a:rPr lang="en-US" sz="1300" dirty="0">
                <a:solidFill>
                  <a:schemeClr val="accent3"/>
                </a:solidFill>
              </a:rPr>
              <a:t>rows (purchases)</a:t>
            </a:r>
            <a:endParaRPr lang="en-US" sz="1300" dirty="0"/>
          </a:p>
        </p:txBody>
      </p:sp>
      <p:sp>
        <p:nvSpPr>
          <p:cNvPr id="7" name="Shape 5"/>
          <p:cNvSpPr/>
          <p:nvPr/>
        </p:nvSpPr>
        <p:spPr>
          <a:xfrm>
            <a:off x="3383280" y="1691640"/>
            <a:ext cx="2651760" cy="1234440"/>
          </a:xfrm>
          <a:prstGeom prst="roundRect">
            <a:avLst>
              <a:gd name="adj" fmla="val 592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8" name="Text 6"/>
          <p:cNvSpPr txBox="1"/>
          <p:nvPr/>
        </p:nvSpPr>
        <p:spPr>
          <a:xfrm>
            <a:off x="3657600" y="1828800"/>
            <a:ext cx="2194560" cy="640080"/>
          </a:xfrm>
          <a:prstGeom prst="rect">
            <a:avLst/>
          </a:prstGeom>
          <a:noFill/>
          <a:ln/>
        </p:spPr>
        <p:txBody>
          <a:bodyPr wrap="square" lIns="0" tIns="0" rIns="0" bIns="0" rtlCol="0" anchor="t"/>
          <a:lstStyle/>
          <a:p>
            <a:pPr indent="0" marL="0">
              <a:buNone/>
            </a:pPr>
            <a:r>
              <a:rPr lang="en-US" sz="3200" b="1" dirty="0">
                <a:solidFill>
                  <a:schemeClr val="accent1"/>
                </a:solidFill>
              </a:rPr>
              <a:t>18</a:t>
            </a:r>
            <a:endParaRPr lang="en-US" sz="3200" dirty="0"/>
          </a:p>
        </p:txBody>
      </p:sp>
      <p:sp>
        <p:nvSpPr>
          <p:cNvPr id="9" name="Text 7"/>
          <p:cNvSpPr txBox="1"/>
          <p:nvPr/>
        </p:nvSpPr>
        <p:spPr>
          <a:xfrm>
            <a:off x="3657600" y="2468880"/>
            <a:ext cx="2194560" cy="320040"/>
          </a:xfrm>
          <a:prstGeom prst="rect">
            <a:avLst/>
          </a:prstGeom>
          <a:noFill/>
          <a:ln/>
        </p:spPr>
        <p:txBody>
          <a:bodyPr wrap="square" lIns="0" tIns="0" rIns="0" bIns="0" rtlCol="0" anchor="t"/>
          <a:lstStyle/>
          <a:p>
            <a:pPr indent="0" marL="0">
              <a:buNone/>
            </a:pPr>
            <a:r>
              <a:rPr lang="en-US" sz="1300" dirty="0">
                <a:solidFill>
                  <a:schemeClr val="accent3"/>
                </a:solidFill>
              </a:rPr>
              <a:t>columns</a:t>
            </a:r>
            <a:endParaRPr lang="en-US" sz="1300" dirty="0"/>
          </a:p>
        </p:txBody>
      </p:sp>
      <p:sp>
        <p:nvSpPr>
          <p:cNvPr id="10" name="Shape 8"/>
          <p:cNvSpPr/>
          <p:nvPr/>
        </p:nvSpPr>
        <p:spPr>
          <a:xfrm>
            <a:off x="6217920" y="1691640"/>
            <a:ext cx="2651760" cy="1234440"/>
          </a:xfrm>
          <a:prstGeom prst="roundRect">
            <a:avLst>
              <a:gd name="adj" fmla="val 592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1" name="Text 9"/>
          <p:cNvSpPr txBox="1"/>
          <p:nvPr/>
        </p:nvSpPr>
        <p:spPr>
          <a:xfrm>
            <a:off x="6492240" y="1828800"/>
            <a:ext cx="2194560" cy="640080"/>
          </a:xfrm>
          <a:prstGeom prst="rect">
            <a:avLst/>
          </a:prstGeom>
          <a:noFill/>
          <a:ln/>
        </p:spPr>
        <p:txBody>
          <a:bodyPr wrap="square" lIns="0" tIns="0" rIns="0" bIns="0" rtlCol="0" anchor="t"/>
          <a:lstStyle/>
          <a:p>
            <a:pPr indent="0" marL="0">
              <a:buNone/>
            </a:pPr>
            <a:r>
              <a:rPr lang="en-US" sz="3200" b="1" dirty="0">
                <a:solidFill>
                  <a:schemeClr val="accent1"/>
                </a:solidFill>
              </a:rPr>
              <a:t>$59.76</a:t>
            </a:r>
            <a:endParaRPr lang="en-US" sz="3200" dirty="0"/>
          </a:p>
        </p:txBody>
      </p:sp>
      <p:sp>
        <p:nvSpPr>
          <p:cNvPr id="12" name="Text 10"/>
          <p:cNvSpPr txBox="1"/>
          <p:nvPr/>
        </p:nvSpPr>
        <p:spPr>
          <a:xfrm>
            <a:off x="6492240" y="2468880"/>
            <a:ext cx="2194560" cy="320040"/>
          </a:xfrm>
          <a:prstGeom prst="rect">
            <a:avLst/>
          </a:prstGeom>
          <a:noFill/>
          <a:ln/>
        </p:spPr>
        <p:txBody>
          <a:bodyPr wrap="square" lIns="0" tIns="0" rIns="0" bIns="0" rtlCol="0" anchor="t"/>
          <a:lstStyle/>
          <a:p>
            <a:pPr indent="0" marL="0">
              <a:buNone/>
            </a:pPr>
            <a:r>
              <a:rPr lang="en-US" sz="1300" dirty="0">
                <a:solidFill>
                  <a:schemeClr val="accent3"/>
                </a:solidFill>
              </a:rPr>
              <a:t>average purchase</a:t>
            </a:r>
            <a:endParaRPr lang="en-US" sz="1300" dirty="0"/>
          </a:p>
        </p:txBody>
      </p:sp>
      <p:sp>
        <p:nvSpPr>
          <p:cNvPr id="13" name="Shape 11"/>
          <p:cNvSpPr/>
          <p:nvPr/>
        </p:nvSpPr>
        <p:spPr>
          <a:xfrm>
            <a:off x="9052560" y="1691640"/>
            <a:ext cx="2651760" cy="1234440"/>
          </a:xfrm>
          <a:prstGeom prst="roundRect">
            <a:avLst>
              <a:gd name="adj" fmla="val 592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4" name="Text 12"/>
          <p:cNvSpPr txBox="1"/>
          <p:nvPr/>
        </p:nvSpPr>
        <p:spPr>
          <a:xfrm>
            <a:off x="9326880" y="1828800"/>
            <a:ext cx="2194560" cy="640080"/>
          </a:xfrm>
          <a:prstGeom prst="rect">
            <a:avLst/>
          </a:prstGeom>
          <a:noFill/>
          <a:ln/>
        </p:spPr>
        <p:txBody>
          <a:bodyPr wrap="square" lIns="0" tIns="0" rIns="0" bIns="0" rtlCol="0" anchor="t"/>
          <a:lstStyle/>
          <a:p>
            <a:pPr indent="0" marL="0">
              <a:buNone/>
            </a:pPr>
            <a:r>
              <a:rPr lang="en-US" sz="3200" b="1" dirty="0">
                <a:solidFill>
                  <a:schemeClr val="accent1"/>
                </a:solidFill>
              </a:rPr>
              <a:t>3.75 / 5</a:t>
            </a:r>
            <a:endParaRPr lang="en-US" sz="3200" dirty="0"/>
          </a:p>
        </p:txBody>
      </p:sp>
      <p:sp>
        <p:nvSpPr>
          <p:cNvPr id="15" name="Text 13"/>
          <p:cNvSpPr txBox="1"/>
          <p:nvPr/>
        </p:nvSpPr>
        <p:spPr>
          <a:xfrm>
            <a:off x="9326880" y="2468880"/>
            <a:ext cx="2194560" cy="320040"/>
          </a:xfrm>
          <a:prstGeom prst="rect">
            <a:avLst/>
          </a:prstGeom>
          <a:noFill/>
          <a:ln/>
        </p:spPr>
        <p:txBody>
          <a:bodyPr wrap="square" lIns="0" tIns="0" rIns="0" bIns="0" rtlCol="0" anchor="t"/>
          <a:lstStyle/>
          <a:p>
            <a:pPr indent="0" marL="0">
              <a:buNone/>
            </a:pPr>
            <a:r>
              <a:rPr lang="en-US" sz="1300" dirty="0">
                <a:solidFill>
                  <a:schemeClr val="accent3"/>
                </a:solidFill>
              </a:rPr>
              <a:t>average review rating</a:t>
            </a:r>
            <a:endParaRPr lang="en-US" sz="1300" dirty="0"/>
          </a:p>
        </p:txBody>
      </p:sp>
      <p:sp>
        <p:nvSpPr>
          <p:cNvPr id="16" name="Shape 14"/>
          <p:cNvSpPr/>
          <p:nvPr/>
        </p:nvSpPr>
        <p:spPr>
          <a:xfrm>
            <a:off x="548640" y="3200400"/>
            <a:ext cx="3593592" cy="2880360"/>
          </a:xfrm>
          <a:prstGeom prst="roundRect">
            <a:avLst>
              <a:gd name="adj" fmla="val 2540"/>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7" name="Shape 15"/>
          <p:cNvSpPr/>
          <p:nvPr/>
        </p:nvSpPr>
        <p:spPr>
          <a:xfrm>
            <a:off x="822960" y="3456432"/>
            <a:ext cx="548640" cy="548640"/>
          </a:xfrm>
          <a:prstGeom prst="ellipse">
            <a:avLst/>
          </a:prstGeom>
          <a:solidFill>
            <a:schemeClr val="bg2"/>
          </a:solidFill>
          <a:ln w="12700">
            <a:solidFill>
              <a:schemeClr val="bg2"/>
            </a:solidFill>
            <a:prstDash val="solid"/>
          </a:ln>
        </p:spPr>
      </p:sp>
      <p:pic>
        <p:nvPicPr>
          <p:cNvPr id="18" name="Image 0" descr="preencoded.png">    </p:cNvPr>
          <p:cNvPicPr>
            <a:picLocks noChangeAspect="1"/>
          </p:cNvPicPr>
          <p:nvPr/>
        </p:nvPicPr>
        <p:blipFill>
          <a:blip r:embed="rId1"/>
          <a:stretch>
            <a:fillRect/>
          </a:stretch>
        </p:blipFill>
        <p:spPr>
          <a:xfrm>
            <a:off x="971093" y="3604565"/>
            <a:ext cx="252374" cy="252374"/>
          </a:xfrm>
          <a:prstGeom prst="rect">
            <a:avLst/>
          </a:prstGeom>
        </p:spPr>
      </p:pic>
      <p:sp>
        <p:nvSpPr>
          <p:cNvPr id="19" name="Text 16"/>
          <p:cNvSpPr txBox="1"/>
          <p:nvPr/>
        </p:nvSpPr>
        <p:spPr>
          <a:xfrm>
            <a:off x="1508760" y="3547872"/>
            <a:ext cx="2560320" cy="365760"/>
          </a:xfrm>
          <a:prstGeom prst="rect">
            <a:avLst/>
          </a:prstGeom>
          <a:noFill/>
          <a:ln/>
        </p:spPr>
        <p:txBody>
          <a:bodyPr wrap="square" lIns="0" tIns="0" rIns="0" bIns="0" rtlCol="0" anchor="t"/>
          <a:lstStyle/>
          <a:p>
            <a:pPr indent="0" marL="0">
              <a:buNone/>
            </a:pPr>
            <a:r>
              <a:rPr lang="en-US" sz="1600" b="1" dirty="0">
                <a:solidFill>
                  <a:schemeClr val="tx2"/>
                </a:solidFill>
              </a:rPr>
              <a:t>Customer demographics</a:t>
            </a:r>
            <a:endParaRPr lang="en-US" sz="1600" dirty="0"/>
          </a:p>
        </p:txBody>
      </p:sp>
      <p:sp>
        <p:nvSpPr>
          <p:cNvPr id="20" name="Text 17"/>
          <p:cNvSpPr txBox="1"/>
          <p:nvPr/>
        </p:nvSpPr>
        <p:spPr>
          <a:xfrm>
            <a:off x="822960" y="4206240"/>
            <a:ext cx="3154680" cy="17373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Age 18 to 70, median 44</a:t>
            </a:r>
            <a:endParaRPr lang="en-US" sz="1400" dirty="0"/>
          </a:p>
          <a:p>
            <a:pPr marL="190500" indent="-190500">
              <a:spcAft>
                <a:spcPts val="600"/>
              </a:spcAft>
              <a:buSzPct val="100000"/>
              <a:buChar char="•"/>
            </a:pPr>
            <a:r>
              <a:rPr lang="en-US" sz="1400" dirty="0">
                <a:solidFill>
                  <a:schemeClr val="tx1"/>
                </a:solidFill>
              </a:rPr>
              <a:t>Gender (68% male)</a:t>
            </a:r>
            <a:endParaRPr lang="en-US" sz="1400" dirty="0"/>
          </a:p>
          <a:p>
            <a:pPr marL="190500" indent="-190500">
              <a:spcAft>
                <a:spcPts val="600"/>
              </a:spcAft>
              <a:buSzPct val="100000"/>
              <a:buChar char="•"/>
            </a:pPr>
            <a:r>
              <a:rPr lang="en-US" sz="1400" dirty="0">
                <a:solidFill>
                  <a:schemeClr val="tx1"/>
                </a:solidFill>
              </a:rPr>
              <a:t>Location: all 50 US states</a:t>
            </a:r>
            <a:endParaRPr lang="en-US" sz="1400" dirty="0"/>
          </a:p>
          <a:p>
            <a:pPr marL="190500" indent="-190500">
              <a:spcAft>
                <a:spcPts val="600"/>
              </a:spcAft>
              <a:buSzPct val="100000"/>
              <a:buChar char="•"/>
            </a:pPr>
            <a:r>
              <a:rPr lang="en-US" sz="1400" dirty="0">
                <a:solidFill>
                  <a:schemeClr val="tx1"/>
                </a:solidFill>
              </a:rPr>
              <a:t>Subscription status</a:t>
            </a:r>
            <a:endParaRPr lang="en-US" sz="1400" dirty="0"/>
          </a:p>
        </p:txBody>
      </p:sp>
      <p:sp>
        <p:nvSpPr>
          <p:cNvPr id="21" name="Shape 18"/>
          <p:cNvSpPr/>
          <p:nvPr/>
        </p:nvSpPr>
        <p:spPr>
          <a:xfrm>
            <a:off x="4325112" y="3200400"/>
            <a:ext cx="3593592" cy="2880360"/>
          </a:xfrm>
          <a:prstGeom prst="roundRect">
            <a:avLst>
              <a:gd name="adj" fmla="val 2540"/>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22" name="Shape 19"/>
          <p:cNvSpPr/>
          <p:nvPr/>
        </p:nvSpPr>
        <p:spPr>
          <a:xfrm>
            <a:off x="4599432" y="3456432"/>
            <a:ext cx="548640" cy="548640"/>
          </a:xfrm>
          <a:prstGeom prst="ellipse">
            <a:avLst/>
          </a:prstGeom>
          <a:solidFill>
            <a:schemeClr val="bg2"/>
          </a:solidFill>
          <a:ln w="12700">
            <a:solidFill>
              <a:schemeClr val="bg2"/>
            </a:solidFill>
            <a:prstDash val="solid"/>
          </a:ln>
        </p:spPr>
      </p:sp>
      <p:pic>
        <p:nvPicPr>
          <p:cNvPr id="23" name="Image 1" descr="preencoded.png">    </p:cNvPr>
          <p:cNvPicPr>
            <a:picLocks noChangeAspect="1"/>
          </p:cNvPicPr>
          <p:nvPr/>
        </p:nvPicPr>
        <p:blipFill>
          <a:blip r:embed="rId2"/>
          <a:stretch>
            <a:fillRect/>
          </a:stretch>
        </p:blipFill>
        <p:spPr>
          <a:xfrm>
            <a:off x="4747565" y="3604565"/>
            <a:ext cx="252374" cy="252374"/>
          </a:xfrm>
          <a:prstGeom prst="rect">
            <a:avLst/>
          </a:prstGeom>
        </p:spPr>
      </p:pic>
      <p:sp>
        <p:nvSpPr>
          <p:cNvPr id="24" name="Text 20"/>
          <p:cNvSpPr txBox="1"/>
          <p:nvPr/>
        </p:nvSpPr>
        <p:spPr>
          <a:xfrm>
            <a:off x="5285232" y="3547872"/>
            <a:ext cx="2560320" cy="365760"/>
          </a:xfrm>
          <a:prstGeom prst="rect">
            <a:avLst/>
          </a:prstGeom>
          <a:noFill/>
          <a:ln/>
        </p:spPr>
        <p:txBody>
          <a:bodyPr wrap="square" lIns="0" tIns="0" rIns="0" bIns="0" rtlCol="0" anchor="t"/>
          <a:lstStyle/>
          <a:p>
            <a:pPr indent="0" marL="0">
              <a:buNone/>
            </a:pPr>
            <a:r>
              <a:rPr lang="en-US" sz="1600" b="1" dirty="0">
                <a:solidFill>
                  <a:schemeClr val="tx2"/>
                </a:solidFill>
              </a:rPr>
              <a:t>Purchase details</a:t>
            </a:r>
            <a:endParaRPr lang="en-US" sz="1600" dirty="0"/>
          </a:p>
        </p:txBody>
      </p:sp>
      <p:sp>
        <p:nvSpPr>
          <p:cNvPr id="25" name="Text 21"/>
          <p:cNvSpPr txBox="1"/>
          <p:nvPr/>
        </p:nvSpPr>
        <p:spPr>
          <a:xfrm>
            <a:off x="4599432" y="4206240"/>
            <a:ext cx="3154680" cy="17373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Item purchased (25 items)</a:t>
            </a:r>
            <a:endParaRPr lang="en-US" sz="1400" dirty="0"/>
          </a:p>
          <a:p>
            <a:pPr marL="190500" indent="-190500">
              <a:spcAft>
                <a:spcPts val="600"/>
              </a:spcAft>
              <a:buSzPct val="100000"/>
              <a:buChar char="•"/>
            </a:pPr>
            <a:r>
              <a:rPr lang="en-US" sz="1400" dirty="0">
                <a:solidFill>
                  <a:schemeClr val="tx1"/>
                </a:solidFill>
              </a:rPr>
              <a:t>Category (4)</a:t>
            </a:r>
            <a:endParaRPr lang="en-US" sz="1400" dirty="0"/>
          </a:p>
          <a:p>
            <a:pPr marL="190500" indent="-190500">
              <a:spcAft>
                <a:spcPts val="600"/>
              </a:spcAft>
              <a:buSzPct val="100000"/>
              <a:buChar char="•"/>
            </a:pPr>
            <a:r>
              <a:rPr lang="en-US" sz="1400" dirty="0">
                <a:solidFill>
                  <a:schemeClr val="tx1"/>
                </a:solidFill>
              </a:rPr>
              <a:t>Purchase amount, $20 to $100</a:t>
            </a:r>
            <a:endParaRPr lang="en-US" sz="1400" dirty="0"/>
          </a:p>
          <a:p>
            <a:pPr marL="190500" indent="-190500">
              <a:spcAft>
                <a:spcPts val="600"/>
              </a:spcAft>
              <a:buSzPct val="100000"/>
              <a:buChar char="•"/>
            </a:pPr>
            <a:r>
              <a:rPr lang="en-US" sz="1400" dirty="0">
                <a:solidFill>
                  <a:schemeClr val="tx1"/>
                </a:solidFill>
              </a:rPr>
              <a:t>Season, size, color</a:t>
            </a:r>
            <a:endParaRPr lang="en-US" sz="1400" dirty="0"/>
          </a:p>
        </p:txBody>
      </p:sp>
      <p:sp>
        <p:nvSpPr>
          <p:cNvPr id="26" name="Shape 22"/>
          <p:cNvSpPr/>
          <p:nvPr/>
        </p:nvSpPr>
        <p:spPr>
          <a:xfrm>
            <a:off x="8101584" y="3200400"/>
            <a:ext cx="3593592" cy="2880360"/>
          </a:xfrm>
          <a:prstGeom prst="roundRect">
            <a:avLst>
              <a:gd name="adj" fmla="val 2540"/>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27" name="Shape 23"/>
          <p:cNvSpPr/>
          <p:nvPr/>
        </p:nvSpPr>
        <p:spPr>
          <a:xfrm>
            <a:off x="8375904" y="3456432"/>
            <a:ext cx="548640" cy="548640"/>
          </a:xfrm>
          <a:prstGeom prst="ellipse">
            <a:avLst/>
          </a:prstGeom>
          <a:solidFill>
            <a:schemeClr val="bg2"/>
          </a:solidFill>
          <a:ln w="12700">
            <a:solidFill>
              <a:schemeClr val="bg2"/>
            </a:solidFill>
            <a:prstDash val="solid"/>
          </a:ln>
        </p:spPr>
      </p:sp>
      <p:pic>
        <p:nvPicPr>
          <p:cNvPr id="28" name="Image 2" descr="preencoded.png">    </p:cNvPr>
          <p:cNvPicPr>
            <a:picLocks noChangeAspect="1"/>
          </p:cNvPicPr>
          <p:nvPr/>
        </p:nvPicPr>
        <p:blipFill>
          <a:blip r:embed="rId3"/>
          <a:stretch>
            <a:fillRect/>
          </a:stretch>
        </p:blipFill>
        <p:spPr>
          <a:xfrm>
            <a:off x="8524037" y="3604565"/>
            <a:ext cx="252374" cy="252374"/>
          </a:xfrm>
          <a:prstGeom prst="rect">
            <a:avLst/>
          </a:prstGeom>
        </p:spPr>
      </p:pic>
      <p:sp>
        <p:nvSpPr>
          <p:cNvPr id="29" name="Text 24"/>
          <p:cNvSpPr txBox="1"/>
          <p:nvPr/>
        </p:nvSpPr>
        <p:spPr>
          <a:xfrm>
            <a:off x="9061704" y="3547872"/>
            <a:ext cx="2560320" cy="365760"/>
          </a:xfrm>
          <a:prstGeom prst="rect">
            <a:avLst/>
          </a:prstGeom>
          <a:noFill/>
          <a:ln/>
        </p:spPr>
        <p:txBody>
          <a:bodyPr wrap="square" lIns="0" tIns="0" rIns="0" bIns="0" rtlCol="0" anchor="t"/>
          <a:lstStyle/>
          <a:p>
            <a:pPr indent="0" marL="0">
              <a:buNone/>
            </a:pPr>
            <a:r>
              <a:rPr lang="en-US" sz="1600" b="1" dirty="0">
                <a:solidFill>
                  <a:schemeClr val="tx2"/>
                </a:solidFill>
              </a:rPr>
              <a:t>Shopping behavior</a:t>
            </a:r>
            <a:endParaRPr lang="en-US" sz="1600" dirty="0"/>
          </a:p>
        </p:txBody>
      </p:sp>
      <p:sp>
        <p:nvSpPr>
          <p:cNvPr id="30" name="Text 25"/>
          <p:cNvSpPr txBox="1"/>
          <p:nvPr/>
        </p:nvSpPr>
        <p:spPr>
          <a:xfrm>
            <a:off x="8375904" y="4206240"/>
            <a:ext cx="3154680" cy="17373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Discount applied, promo code</a:t>
            </a:r>
            <a:endParaRPr lang="en-US" sz="1400" dirty="0"/>
          </a:p>
          <a:p>
            <a:pPr marL="190500" indent="-190500">
              <a:spcAft>
                <a:spcPts val="600"/>
              </a:spcAft>
              <a:buSzPct val="100000"/>
              <a:buChar char="•"/>
            </a:pPr>
            <a:r>
              <a:rPr lang="en-US" sz="1400" dirty="0">
                <a:solidFill>
                  <a:schemeClr val="tx1"/>
                </a:solidFill>
              </a:rPr>
              <a:t>Previous purchases, frequency</a:t>
            </a:r>
            <a:endParaRPr lang="en-US" sz="1400" dirty="0"/>
          </a:p>
          <a:p>
            <a:pPr marL="190500" indent="-190500">
              <a:spcAft>
                <a:spcPts val="600"/>
              </a:spcAft>
              <a:buSzPct val="100000"/>
              <a:buChar char="•"/>
            </a:pPr>
            <a:r>
              <a:rPr lang="en-US" sz="1400" dirty="0">
                <a:solidFill>
                  <a:schemeClr val="tx1"/>
                </a:solidFill>
              </a:rPr>
              <a:t>Review rating (37 missing)</a:t>
            </a:r>
            <a:endParaRPr lang="en-US" sz="1400" dirty="0"/>
          </a:p>
          <a:p>
            <a:pPr marL="190500" indent="-190500">
              <a:spcAft>
                <a:spcPts val="600"/>
              </a:spcAft>
              <a:buSzPct val="100000"/>
              <a:buChar char="•"/>
            </a:pPr>
            <a:r>
              <a:rPr lang="en-US" sz="1400" dirty="0">
                <a:solidFill>
                  <a:schemeClr val="tx1"/>
                </a:solidFill>
              </a:rPr>
              <a:t>Shipping type, payment method</a:t>
            </a:r>
            <a:endParaRPr lang="en-US" sz="14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Three tools, one pipeline</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Each stage hands a cleaner, more useful version of the data to the next.</a:t>
            </a:r>
            <a:endParaRPr lang="en-US" sz="1600" dirty="0"/>
          </a:p>
        </p:txBody>
      </p:sp>
      <p:sp>
        <p:nvSpPr>
          <p:cNvPr id="4" name="Shape 2"/>
          <p:cNvSpPr/>
          <p:nvPr/>
        </p:nvSpPr>
        <p:spPr>
          <a:xfrm>
            <a:off x="1417320" y="1828800"/>
            <a:ext cx="1645920" cy="1645920"/>
          </a:xfrm>
          <a:prstGeom prst="ellipse">
            <a:avLst/>
          </a:prstGeom>
          <a:solidFill>
            <a:schemeClr val="bg1"/>
          </a:solidFill>
          <a:ln w="12700">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preencoded.png">    </p:cNvPr>
          <p:cNvPicPr>
            <a:picLocks noChangeAspect="1"/>
          </p:cNvPicPr>
          <p:nvPr/>
        </p:nvPicPr>
        <p:blipFill>
          <a:blip r:embed="rId1"/>
          <a:stretch>
            <a:fillRect/>
          </a:stretch>
        </p:blipFill>
        <p:spPr>
          <a:xfrm>
            <a:off x="1856232" y="2267712"/>
            <a:ext cx="768096" cy="768096"/>
          </a:xfrm>
          <a:prstGeom prst="rect">
            <a:avLst/>
          </a:prstGeom>
        </p:spPr>
      </p:pic>
      <p:sp>
        <p:nvSpPr>
          <p:cNvPr id="6" name="Shape 3"/>
          <p:cNvSpPr/>
          <p:nvPr/>
        </p:nvSpPr>
        <p:spPr>
          <a:xfrm>
            <a:off x="3337560" y="2651760"/>
            <a:ext cx="1645920" cy="0"/>
          </a:xfrm>
          <a:prstGeom prst="line">
            <a:avLst/>
          </a:prstGeom>
          <a:noFill/>
          <a:ln w="25400">
            <a:solidFill>
              <a:srgbClr val="A9BCFF"/>
            </a:solidFill>
            <a:prstDash val="solid"/>
            <a:tailEnd type="triangle"/>
          </a:ln>
        </p:spPr>
      </p:sp>
      <p:sp>
        <p:nvSpPr>
          <p:cNvPr id="7" name="Text 4"/>
          <p:cNvSpPr txBox="1"/>
          <p:nvPr/>
        </p:nvSpPr>
        <p:spPr>
          <a:xfrm>
            <a:off x="594360" y="3794760"/>
            <a:ext cx="3291840" cy="411480"/>
          </a:xfrm>
          <a:prstGeom prst="rect">
            <a:avLst/>
          </a:prstGeom>
          <a:noFill/>
          <a:ln/>
        </p:spPr>
        <p:txBody>
          <a:bodyPr wrap="square" lIns="0" tIns="0" rIns="0" bIns="0" rtlCol="0" anchor="t"/>
          <a:lstStyle/>
          <a:p>
            <a:pPr algn="ctr" indent="0" marL="0">
              <a:buNone/>
            </a:pPr>
            <a:r>
              <a:rPr lang="en-US" sz="2000" b="1" dirty="0">
                <a:solidFill>
                  <a:schemeClr val="tx2"/>
                </a:solidFill>
              </a:rPr>
              <a:t>Clean &amp; engineer</a:t>
            </a:r>
            <a:endParaRPr lang="en-US" sz="2000" dirty="0"/>
          </a:p>
        </p:txBody>
      </p:sp>
      <p:sp>
        <p:nvSpPr>
          <p:cNvPr id="8" name="Text 5"/>
          <p:cNvSpPr txBox="1"/>
          <p:nvPr/>
        </p:nvSpPr>
        <p:spPr>
          <a:xfrm>
            <a:off x="594360" y="4224528"/>
            <a:ext cx="3291840" cy="320040"/>
          </a:xfrm>
          <a:prstGeom prst="rect">
            <a:avLst/>
          </a:prstGeom>
          <a:noFill/>
          <a:ln/>
        </p:spPr>
        <p:txBody>
          <a:bodyPr wrap="square" lIns="0" tIns="0" rIns="0" bIns="0" rtlCol="0" anchor="t"/>
          <a:lstStyle/>
          <a:p>
            <a:pPr algn="ctr" indent="0" marL="0">
              <a:buNone/>
            </a:pPr>
            <a:r>
              <a:rPr lang="en-US" sz="1400" b="1" dirty="0">
                <a:solidFill>
                  <a:schemeClr val="accent1"/>
                </a:solidFill>
              </a:rPr>
              <a:t>Python (pandas, Jupyter)</a:t>
            </a:r>
            <a:endParaRPr lang="en-US" sz="1400" dirty="0"/>
          </a:p>
        </p:txBody>
      </p:sp>
      <p:sp>
        <p:nvSpPr>
          <p:cNvPr id="9" name="Text 6"/>
          <p:cNvSpPr txBox="1"/>
          <p:nvPr/>
        </p:nvSpPr>
        <p:spPr>
          <a:xfrm>
            <a:off x="777240" y="4663440"/>
            <a:ext cx="2926080" cy="822960"/>
          </a:xfrm>
          <a:prstGeom prst="rect">
            <a:avLst/>
          </a:prstGeom>
          <a:noFill/>
          <a:ln/>
        </p:spPr>
        <p:txBody>
          <a:bodyPr wrap="square" lIns="0" tIns="0" rIns="0" bIns="0" rtlCol="0" anchor="t"/>
          <a:lstStyle/>
          <a:p>
            <a:pPr algn="ctr" indent="0" marL="0">
              <a:buNone/>
            </a:pPr>
            <a:r>
              <a:rPr lang="en-US" sz="1400" dirty="0">
                <a:solidFill>
                  <a:schemeClr val="accent3"/>
                </a:solidFill>
              </a:rPr>
              <a:t>Load, explore, impute missing ratings, add derived columns</a:t>
            </a:r>
            <a:endParaRPr lang="en-US" sz="1400" dirty="0"/>
          </a:p>
        </p:txBody>
      </p:sp>
      <p:sp>
        <p:nvSpPr>
          <p:cNvPr id="10" name="Shape 7"/>
          <p:cNvSpPr/>
          <p:nvPr/>
        </p:nvSpPr>
        <p:spPr>
          <a:xfrm>
            <a:off x="5257800" y="1828800"/>
            <a:ext cx="1645920" cy="1645920"/>
          </a:xfrm>
          <a:prstGeom prst="ellipse">
            <a:avLst/>
          </a:prstGeom>
          <a:solidFill>
            <a:schemeClr val="bg1"/>
          </a:solidFill>
          <a:ln w="12700">
            <a:solidFill>
              <a:srgbClr val="D9DFF0"/>
            </a:solidFill>
            <a:prstDash val="solid"/>
          </a:ln>
          <a:effectLst>
            <a:outerShdw sx="100000" sy="100000" kx="0" ky="0" algn="bl" rotWithShape="0" blurRad="101600" dist="25400" dir="5400000">
              <a:srgbClr val="0E1F6E">
                <a:alpha val="12000"/>
              </a:srgbClr>
            </a:outerShdw>
          </a:effectLst>
        </p:spPr>
      </p:sp>
      <p:pic>
        <p:nvPicPr>
          <p:cNvPr id="11" name="Image 1" descr="preencoded.png">    </p:cNvPr>
          <p:cNvPicPr>
            <a:picLocks noChangeAspect="1"/>
          </p:cNvPicPr>
          <p:nvPr/>
        </p:nvPicPr>
        <p:blipFill>
          <a:blip r:embed="rId2"/>
          <a:stretch>
            <a:fillRect/>
          </a:stretch>
        </p:blipFill>
        <p:spPr>
          <a:xfrm>
            <a:off x="5696712" y="2267712"/>
            <a:ext cx="768096" cy="768096"/>
          </a:xfrm>
          <a:prstGeom prst="rect">
            <a:avLst/>
          </a:prstGeom>
        </p:spPr>
      </p:pic>
      <p:sp>
        <p:nvSpPr>
          <p:cNvPr id="12" name="Shape 8"/>
          <p:cNvSpPr/>
          <p:nvPr/>
        </p:nvSpPr>
        <p:spPr>
          <a:xfrm>
            <a:off x="7178040" y="2651760"/>
            <a:ext cx="1645920" cy="0"/>
          </a:xfrm>
          <a:prstGeom prst="line">
            <a:avLst/>
          </a:prstGeom>
          <a:noFill/>
          <a:ln w="25400">
            <a:solidFill>
              <a:srgbClr val="A9BCFF"/>
            </a:solidFill>
            <a:prstDash val="solid"/>
            <a:tailEnd type="triangle"/>
          </a:ln>
        </p:spPr>
      </p:sp>
      <p:sp>
        <p:nvSpPr>
          <p:cNvPr id="13" name="Text 9"/>
          <p:cNvSpPr txBox="1"/>
          <p:nvPr/>
        </p:nvSpPr>
        <p:spPr>
          <a:xfrm>
            <a:off x="4434840" y="3794760"/>
            <a:ext cx="3291840" cy="411480"/>
          </a:xfrm>
          <a:prstGeom prst="rect">
            <a:avLst/>
          </a:prstGeom>
          <a:noFill/>
          <a:ln/>
        </p:spPr>
        <p:txBody>
          <a:bodyPr wrap="square" lIns="0" tIns="0" rIns="0" bIns="0" rtlCol="0" anchor="t"/>
          <a:lstStyle/>
          <a:p>
            <a:pPr algn="ctr" indent="0" marL="0">
              <a:buNone/>
            </a:pPr>
            <a:r>
              <a:rPr lang="en-US" sz="2000" b="1" dirty="0">
                <a:solidFill>
                  <a:schemeClr val="tx2"/>
                </a:solidFill>
              </a:rPr>
              <a:t>Store &amp; query</a:t>
            </a:r>
            <a:endParaRPr lang="en-US" sz="2000" dirty="0"/>
          </a:p>
        </p:txBody>
      </p:sp>
      <p:sp>
        <p:nvSpPr>
          <p:cNvPr id="14" name="Text 10"/>
          <p:cNvSpPr txBox="1"/>
          <p:nvPr/>
        </p:nvSpPr>
        <p:spPr>
          <a:xfrm>
            <a:off x="4434840" y="4224528"/>
            <a:ext cx="3291840" cy="320040"/>
          </a:xfrm>
          <a:prstGeom prst="rect">
            <a:avLst/>
          </a:prstGeom>
          <a:noFill/>
          <a:ln/>
        </p:spPr>
        <p:txBody>
          <a:bodyPr wrap="square" lIns="0" tIns="0" rIns="0" bIns="0" rtlCol="0" anchor="t"/>
          <a:lstStyle/>
          <a:p>
            <a:pPr algn="ctr" indent="0" marL="0">
              <a:buNone/>
            </a:pPr>
            <a:r>
              <a:rPr lang="en-US" sz="1400" b="1" dirty="0">
                <a:solidFill>
                  <a:schemeClr val="accent1"/>
                </a:solidFill>
              </a:rPr>
              <a:t>PostgreSQL, SQLAlchemy</a:t>
            </a:r>
            <a:endParaRPr lang="en-US" sz="1400" dirty="0"/>
          </a:p>
        </p:txBody>
      </p:sp>
      <p:sp>
        <p:nvSpPr>
          <p:cNvPr id="15" name="Text 11"/>
          <p:cNvSpPr txBox="1"/>
          <p:nvPr/>
        </p:nvSpPr>
        <p:spPr>
          <a:xfrm>
            <a:off x="4617720" y="4663440"/>
            <a:ext cx="2926080" cy="822960"/>
          </a:xfrm>
          <a:prstGeom prst="rect">
            <a:avLst/>
          </a:prstGeom>
          <a:noFill/>
          <a:ln/>
        </p:spPr>
        <p:txBody>
          <a:bodyPr wrap="square" lIns="0" tIns="0" rIns="0" bIns="0" rtlCol="0" anchor="t"/>
          <a:lstStyle/>
          <a:p>
            <a:pPr algn="ctr" indent="0" marL="0">
              <a:buNone/>
            </a:pPr>
            <a:r>
              <a:rPr lang="en-US" sz="1400" dirty="0">
                <a:solidFill>
                  <a:schemeClr val="accent3"/>
                </a:solidFill>
              </a:rPr>
              <a:t>Hold the cleaned table and run ten business questions</a:t>
            </a:r>
            <a:endParaRPr lang="en-US" sz="1400" dirty="0"/>
          </a:p>
        </p:txBody>
      </p:sp>
      <p:sp>
        <p:nvSpPr>
          <p:cNvPr id="16" name="Shape 12"/>
          <p:cNvSpPr/>
          <p:nvPr/>
        </p:nvSpPr>
        <p:spPr>
          <a:xfrm>
            <a:off x="9098280" y="1828800"/>
            <a:ext cx="1645920" cy="1645920"/>
          </a:xfrm>
          <a:prstGeom prst="ellipse">
            <a:avLst/>
          </a:prstGeom>
          <a:solidFill>
            <a:schemeClr val="accent1"/>
          </a:solidFill>
          <a:ln w="12700">
            <a:solidFill>
              <a:schemeClr val="accent1"/>
            </a:solidFill>
            <a:prstDash val="solid"/>
          </a:ln>
          <a:effectLst>
            <a:outerShdw sx="100000" sy="100000" kx="0" ky="0" algn="bl" rotWithShape="0" blurRad="101600" dist="25400" dir="5400000">
              <a:srgbClr val="0E1F6E">
                <a:alpha val="12000"/>
              </a:srgbClr>
            </a:outerShdw>
          </a:effectLst>
        </p:spPr>
      </p:sp>
      <p:pic>
        <p:nvPicPr>
          <p:cNvPr id="17" name="Image 2" descr="preencoded.png">    </p:cNvPr>
          <p:cNvPicPr>
            <a:picLocks noChangeAspect="1"/>
          </p:cNvPicPr>
          <p:nvPr/>
        </p:nvPicPr>
        <p:blipFill>
          <a:blip r:embed="rId3"/>
          <a:stretch>
            <a:fillRect/>
          </a:stretch>
        </p:blipFill>
        <p:spPr>
          <a:xfrm>
            <a:off x="9537192" y="2267712"/>
            <a:ext cx="768096" cy="768096"/>
          </a:xfrm>
          <a:prstGeom prst="rect">
            <a:avLst/>
          </a:prstGeom>
        </p:spPr>
      </p:pic>
      <p:sp>
        <p:nvSpPr>
          <p:cNvPr id="18" name="Text 13"/>
          <p:cNvSpPr txBox="1"/>
          <p:nvPr/>
        </p:nvSpPr>
        <p:spPr>
          <a:xfrm>
            <a:off x="8275320" y="3794760"/>
            <a:ext cx="3291840" cy="411480"/>
          </a:xfrm>
          <a:prstGeom prst="rect">
            <a:avLst/>
          </a:prstGeom>
          <a:noFill/>
          <a:ln/>
        </p:spPr>
        <p:txBody>
          <a:bodyPr wrap="square" lIns="0" tIns="0" rIns="0" bIns="0" rtlCol="0" anchor="t"/>
          <a:lstStyle/>
          <a:p>
            <a:pPr algn="ctr" indent="0" marL="0">
              <a:buNone/>
            </a:pPr>
            <a:r>
              <a:rPr lang="en-US" sz="2000" b="1" dirty="0">
                <a:solidFill>
                  <a:schemeClr val="tx2"/>
                </a:solidFill>
              </a:rPr>
              <a:t>Visualize</a:t>
            </a:r>
            <a:endParaRPr lang="en-US" sz="2000" dirty="0"/>
          </a:p>
        </p:txBody>
      </p:sp>
      <p:sp>
        <p:nvSpPr>
          <p:cNvPr id="19" name="Text 14"/>
          <p:cNvSpPr txBox="1"/>
          <p:nvPr/>
        </p:nvSpPr>
        <p:spPr>
          <a:xfrm>
            <a:off x="8275320" y="4224528"/>
            <a:ext cx="3291840" cy="320040"/>
          </a:xfrm>
          <a:prstGeom prst="rect">
            <a:avLst/>
          </a:prstGeom>
          <a:noFill/>
          <a:ln/>
        </p:spPr>
        <p:txBody>
          <a:bodyPr wrap="square" lIns="0" tIns="0" rIns="0" bIns="0" rtlCol="0" anchor="t"/>
          <a:lstStyle/>
          <a:p>
            <a:pPr algn="ctr" indent="0" marL="0">
              <a:buNone/>
            </a:pPr>
            <a:r>
              <a:rPr lang="en-US" sz="1400" b="1" dirty="0">
                <a:solidFill>
                  <a:schemeClr val="accent1"/>
                </a:solidFill>
              </a:rPr>
              <a:t>Power BI Desktop</a:t>
            </a:r>
            <a:endParaRPr lang="en-US" sz="1400" dirty="0"/>
          </a:p>
        </p:txBody>
      </p:sp>
      <p:sp>
        <p:nvSpPr>
          <p:cNvPr id="20" name="Text 15"/>
          <p:cNvSpPr txBox="1"/>
          <p:nvPr/>
        </p:nvSpPr>
        <p:spPr>
          <a:xfrm>
            <a:off x="8458200" y="4663440"/>
            <a:ext cx="2926080" cy="822960"/>
          </a:xfrm>
          <a:prstGeom prst="rect">
            <a:avLst/>
          </a:prstGeom>
          <a:noFill/>
          <a:ln/>
        </p:spPr>
        <p:txBody>
          <a:bodyPr wrap="square" lIns="0" tIns="0" rIns="0" bIns="0" rtlCol="0" anchor="t"/>
          <a:lstStyle/>
          <a:p>
            <a:pPr algn="ctr" indent="0" marL="0">
              <a:buNone/>
            </a:pPr>
            <a:r>
              <a:rPr lang="en-US" sz="1400" dirty="0">
                <a:solidFill>
                  <a:schemeClr val="accent3"/>
                </a:solidFill>
              </a:rPr>
              <a:t>One-page dashboard with slicers and KPI cards</a:t>
            </a:r>
            <a:endParaRPr lang="en-US" sz="14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Preparing the data in Python</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Five changes turned the raw CSV into a table that was ready for SQL.</a:t>
            </a:r>
            <a:endParaRPr lang="en-US" sz="1600" dirty="0"/>
          </a:p>
        </p:txBody>
      </p:sp>
      <p:sp>
        <p:nvSpPr>
          <p:cNvPr id="4" name="Shape 2"/>
          <p:cNvSpPr/>
          <p:nvPr/>
        </p:nvSpPr>
        <p:spPr>
          <a:xfrm>
            <a:off x="548640" y="1737360"/>
            <a:ext cx="566928" cy="566928"/>
          </a:xfrm>
          <a:prstGeom prst="ellipse">
            <a:avLst/>
          </a:prstGeom>
          <a:solidFill>
            <a:schemeClr val="accent1"/>
          </a:solidFill>
          <a:ln w="19050">
            <a:solidFill>
              <a:schemeClr val="accent1"/>
            </a:solidFill>
            <a:prstDash val="solid"/>
          </a:ln>
        </p:spPr>
      </p:sp>
      <p:sp>
        <p:nvSpPr>
          <p:cNvPr id="5"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6" name="Text 4"/>
          <p:cNvSpPr txBox="1"/>
          <p:nvPr/>
        </p:nvSpPr>
        <p:spPr>
          <a:xfrm>
            <a:off x="1325880" y="1719072"/>
            <a:ext cx="3931920" cy="301752"/>
          </a:xfrm>
          <a:prstGeom prst="rect">
            <a:avLst/>
          </a:prstGeom>
          <a:noFill/>
          <a:ln/>
        </p:spPr>
        <p:txBody>
          <a:bodyPr wrap="square" lIns="0" tIns="0" rIns="0" bIns="0" rtlCol="0" anchor="t"/>
          <a:lstStyle/>
          <a:p>
            <a:pPr indent="0" marL="0">
              <a:buNone/>
            </a:pPr>
            <a:r>
              <a:rPr lang="en-US" sz="1500" b="1" dirty="0">
                <a:solidFill>
                  <a:schemeClr val="tx2"/>
                </a:solidFill>
              </a:rPr>
              <a:t>Impute ratings</a:t>
            </a:r>
            <a:endParaRPr lang="en-US" sz="1500" dirty="0"/>
          </a:p>
        </p:txBody>
      </p:sp>
      <p:sp>
        <p:nvSpPr>
          <p:cNvPr id="7" name="Text 5"/>
          <p:cNvSpPr txBox="1"/>
          <p:nvPr/>
        </p:nvSpPr>
        <p:spPr>
          <a:xfrm>
            <a:off x="1325880" y="2020824"/>
            <a:ext cx="3931920" cy="457200"/>
          </a:xfrm>
          <a:prstGeom prst="rect">
            <a:avLst/>
          </a:prstGeom>
          <a:noFill/>
          <a:ln/>
        </p:spPr>
        <p:txBody>
          <a:bodyPr wrap="square" lIns="0" tIns="0" rIns="0" bIns="0" rtlCol="0" anchor="t"/>
          <a:lstStyle/>
          <a:p>
            <a:pPr indent="0" marL="0">
              <a:buNone/>
            </a:pPr>
            <a:r>
              <a:rPr lang="en-US" sz="1200" dirty="0">
                <a:solidFill>
                  <a:schemeClr val="accent3"/>
                </a:solidFill>
              </a:rPr>
              <a:t>37 missing ratings filled with their own category's median</a:t>
            </a:r>
            <a:endParaRPr lang="en-US" sz="1200" dirty="0"/>
          </a:p>
        </p:txBody>
      </p:sp>
      <p:sp>
        <p:nvSpPr>
          <p:cNvPr id="8" name="Shape 6"/>
          <p:cNvSpPr/>
          <p:nvPr/>
        </p:nvSpPr>
        <p:spPr>
          <a:xfrm>
            <a:off x="548640" y="2624328"/>
            <a:ext cx="566928" cy="566928"/>
          </a:xfrm>
          <a:prstGeom prst="ellipse">
            <a:avLst/>
          </a:prstGeom>
          <a:solidFill>
            <a:schemeClr val="bg1"/>
          </a:solidFill>
          <a:ln w="19050">
            <a:solidFill>
              <a:schemeClr val="accent1"/>
            </a:solidFill>
            <a:prstDash val="solid"/>
          </a:ln>
        </p:spPr>
      </p:sp>
      <p:sp>
        <p:nvSpPr>
          <p:cNvPr id="9" name="Text 7"/>
          <p:cNvSpPr txBox="1"/>
          <p:nvPr/>
        </p:nvSpPr>
        <p:spPr>
          <a:xfrm>
            <a:off x="548640" y="2624328"/>
            <a:ext cx="566928" cy="566928"/>
          </a:xfrm>
          <a:prstGeom prst="rect">
            <a:avLst/>
          </a:prstGeom>
          <a:noFill/>
          <a:ln/>
        </p:spPr>
        <p:txBody>
          <a:bodyPr wrap="square" lIns="0" tIns="0" rIns="0" bIns="0" rtlCol="0" anchor="ctr"/>
          <a:lstStyle/>
          <a:p>
            <a:pPr algn="ctr" indent="0" marL="0">
              <a:buNone/>
            </a:pPr>
            <a:r>
              <a:rPr lang="en-US" sz="1400" b="1" dirty="0">
                <a:solidFill>
                  <a:schemeClr val="accent1"/>
                </a:solidFill>
              </a:rPr>
              <a:t>02</a:t>
            </a:r>
            <a:endParaRPr lang="en-US" sz="1400" dirty="0"/>
          </a:p>
        </p:txBody>
      </p:sp>
      <p:sp>
        <p:nvSpPr>
          <p:cNvPr id="10" name="Text 8"/>
          <p:cNvSpPr txBox="1"/>
          <p:nvPr/>
        </p:nvSpPr>
        <p:spPr>
          <a:xfrm>
            <a:off x="1325880" y="2606040"/>
            <a:ext cx="3931920" cy="301752"/>
          </a:xfrm>
          <a:prstGeom prst="rect">
            <a:avLst/>
          </a:prstGeom>
          <a:noFill/>
          <a:ln/>
        </p:spPr>
        <p:txBody>
          <a:bodyPr wrap="square" lIns="0" tIns="0" rIns="0" bIns="0" rtlCol="0" anchor="t"/>
          <a:lstStyle/>
          <a:p>
            <a:pPr indent="0" marL="0">
              <a:buNone/>
            </a:pPr>
            <a:r>
              <a:rPr lang="en-US" sz="1500" b="1" dirty="0">
                <a:solidFill>
                  <a:schemeClr val="tx2"/>
                </a:solidFill>
              </a:rPr>
              <a:t>Rename columns</a:t>
            </a:r>
            <a:endParaRPr lang="en-US" sz="1500" dirty="0"/>
          </a:p>
        </p:txBody>
      </p:sp>
      <p:sp>
        <p:nvSpPr>
          <p:cNvPr id="11" name="Text 9"/>
          <p:cNvSpPr txBox="1"/>
          <p:nvPr/>
        </p:nvSpPr>
        <p:spPr>
          <a:xfrm>
            <a:off x="1325880" y="2907792"/>
            <a:ext cx="3931920" cy="457200"/>
          </a:xfrm>
          <a:prstGeom prst="rect">
            <a:avLst/>
          </a:prstGeom>
          <a:noFill/>
          <a:ln/>
        </p:spPr>
        <p:txBody>
          <a:bodyPr wrap="square" lIns="0" tIns="0" rIns="0" bIns="0" rtlCol="0" anchor="t"/>
          <a:lstStyle/>
          <a:p>
            <a:pPr indent="0" marL="0">
              <a:buNone/>
            </a:pPr>
            <a:r>
              <a:rPr lang="en-US" sz="1200" dirty="0">
                <a:solidFill>
                  <a:schemeClr val="accent3"/>
                </a:solidFill>
              </a:rPr>
              <a:t>Lowercase snake_case, e.g. purchase_amount, for easier SQL</a:t>
            </a:r>
            <a:endParaRPr lang="en-US" sz="1200" dirty="0"/>
          </a:p>
        </p:txBody>
      </p:sp>
      <p:sp>
        <p:nvSpPr>
          <p:cNvPr id="12" name="Shape 10"/>
          <p:cNvSpPr/>
          <p:nvPr/>
        </p:nvSpPr>
        <p:spPr>
          <a:xfrm>
            <a:off x="548640" y="3511296"/>
            <a:ext cx="566928" cy="566928"/>
          </a:xfrm>
          <a:prstGeom prst="ellipse">
            <a:avLst/>
          </a:prstGeom>
          <a:solidFill>
            <a:schemeClr val="bg1"/>
          </a:solidFill>
          <a:ln w="19050">
            <a:solidFill>
              <a:schemeClr val="accent1"/>
            </a:solidFill>
            <a:prstDash val="solid"/>
          </a:ln>
        </p:spPr>
      </p:sp>
      <p:sp>
        <p:nvSpPr>
          <p:cNvPr id="13" name="Text 11"/>
          <p:cNvSpPr txBox="1"/>
          <p:nvPr/>
        </p:nvSpPr>
        <p:spPr>
          <a:xfrm>
            <a:off x="548640" y="3511296"/>
            <a:ext cx="566928" cy="566928"/>
          </a:xfrm>
          <a:prstGeom prst="rect">
            <a:avLst/>
          </a:prstGeom>
          <a:noFill/>
          <a:ln/>
        </p:spPr>
        <p:txBody>
          <a:bodyPr wrap="square" lIns="0" tIns="0" rIns="0" bIns="0" rtlCol="0" anchor="ctr"/>
          <a:lstStyle/>
          <a:p>
            <a:pPr algn="ctr" indent="0" marL="0">
              <a:buNone/>
            </a:pPr>
            <a:r>
              <a:rPr lang="en-US" sz="1400" b="1" dirty="0">
                <a:solidFill>
                  <a:schemeClr val="accent1"/>
                </a:solidFill>
              </a:rPr>
              <a:t>03</a:t>
            </a:r>
            <a:endParaRPr lang="en-US" sz="1400" dirty="0"/>
          </a:p>
        </p:txBody>
      </p:sp>
      <p:sp>
        <p:nvSpPr>
          <p:cNvPr id="14" name="Text 12"/>
          <p:cNvSpPr txBox="1"/>
          <p:nvPr/>
        </p:nvSpPr>
        <p:spPr>
          <a:xfrm>
            <a:off x="1325880" y="3493008"/>
            <a:ext cx="3931920" cy="301752"/>
          </a:xfrm>
          <a:prstGeom prst="rect">
            <a:avLst/>
          </a:prstGeom>
          <a:noFill/>
          <a:ln/>
        </p:spPr>
        <p:txBody>
          <a:bodyPr wrap="square" lIns="0" tIns="0" rIns="0" bIns="0" rtlCol="0" anchor="t"/>
          <a:lstStyle/>
          <a:p>
            <a:pPr indent="0" marL="0">
              <a:buNone/>
            </a:pPr>
            <a:r>
              <a:rPr lang="en-US" sz="1500" b="1" dirty="0">
                <a:solidFill>
                  <a:schemeClr val="tx2"/>
                </a:solidFill>
              </a:rPr>
              <a:t>Add age groups</a:t>
            </a:r>
            <a:endParaRPr lang="en-US" sz="1500" dirty="0"/>
          </a:p>
        </p:txBody>
      </p:sp>
      <p:sp>
        <p:nvSpPr>
          <p:cNvPr id="15" name="Text 13"/>
          <p:cNvSpPr txBox="1"/>
          <p:nvPr/>
        </p:nvSpPr>
        <p:spPr>
          <a:xfrm>
            <a:off x="1325880" y="3794760"/>
            <a:ext cx="3931920" cy="457200"/>
          </a:xfrm>
          <a:prstGeom prst="rect">
            <a:avLst/>
          </a:prstGeom>
          <a:noFill/>
          <a:ln/>
        </p:spPr>
        <p:txBody>
          <a:bodyPr wrap="square" lIns="0" tIns="0" rIns="0" bIns="0" rtlCol="0" anchor="t"/>
          <a:lstStyle/>
          <a:p>
            <a:pPr indent="0" marL="0">
              <a:buNone/>
            </a:pPr>
            <a:r>
              <a:rPr lang="en-US" sz="1200" dirty="0">
                <a:solidFill>
                  <a:schemeClr val="accent3"/>
                </a:solidFill>
              </a:rPr>
              <a:t>pd.qcut split age into 4 equal-sized bins</a:t>
            </a:r>
            <a:endParaRPr lang="en-US" sz="1200" dirty="0"/>
          </a:p>
        </p:txBody>
      </p:sp>
      <p:sp>
        <p:nvSpPr>
          <p:cNvPr id="16" name="Shape 14"/>
          <p:cNvSpPr/>
          <p:nvPr/>
        </p:nvSpPr>
        <p:spPr>
          <a:xfrm>
            <a:off x="548640" y="4398264"/>
            <a:ext cx="566928" cy="566928"/>
          </a:xfrm>
          <a:prstGeom prst="ellipse">
            <a:avLst/>
          </a:prstGeom>
          <a:solidFill>
            <a:schemeClr val="bg1"/>
          </a:solidFill>
          <a:ln w="19050">
            <a:solidFill>
              <a:schemeClr val="accent1"/>
            </a:solidFill>
            <a:prstDash val="solid"/>
          </a:ln>
        </p:spPr>
      </p:sp>
      <p:sp>
        <p:nvSpPr>
          <p:cNvPr id="17" name="Text 15"/>
          <p:cNvSpPr txBox="1"/>
          <p:nvPr/>
        </p:nvSpPr>
        <p:spPr>
          <a:xfrm>
            <a:off x="548640" y="4398264"/>
            <a:ext cx="566928" cy="566928"/>
          </a:xfrm>
          <a:prstGeom prst="rect">
            <a:avLst/>
          </a:prstGeom>
          <a:noFill/>
          <a:ln/>
        </p:spPr>
        <p:txBody>
          <a:bodyPr wrap="square" lIns="0" tIns="0" rIns="0" bIns="0" rtlCol="0" anchor="ctr"/>
          <a:lstStyle/>
          <a:p>
            <a:pPr algn="ctr" indent="0" marL="0">
              <a:buNone/>
            </a:pPr>
            <a:r>
              <a:rPr lang="en-US" sz="1400" b="1" dirty="0">
                <a:solidFill>
                  <a:schemeClr val="accent1"/>
                </a:solidFill>
              </a:rPr>
              <a:t>04</a:t>
            </a:r>
            <a:endParaRPr lang="en-US" sz="1400" dirty="0"/>
          </a:p>
        </p:txBody>
      </p:sp>
      <p:sp>
        <p:nvSpPr>
          <p:cNvPr id="18" name="Text 16"/>
          <p:cNvSpPr txBox="1"/>
          <p:nvPr/>
        </p:nvSpPr>
        <p:spPr>
          <a:xfrm>
            <a:off x="1325880" y="4379976"/>
            <a:ext cx="3931920" cy="301752"/>
          </a:xfrm>
          <a:prstGeom prst="rect">
            <a:avLst/>
          </a:prstGeom>
          <a:noFill/>
          <a:ln/>
        </p:spPr>
        <p:txBody>
          <a:bodyPr wrap="square" lIns="0" tIns="0" rIns="0" bIns="0" rtlCol="0" anchor="t"/>
          <a:lstStyle/>
          <a:p>
            <a:pPr indent="0" marL="0">
              <a:buNone/>
            </a:pPr>
            <a:r>
              <a:rPr lang="en-US" sz="1500" b="1" dirty="0">
                <a:solidFill>
                  <a:schemeClr val="tx2"/>
                </a:solidFill>
              </a:rPr>
              <a:t>Frequency in days</a:t>
            </a:r>
            <a:endParaRPr lang="en-US" sz="1500" dirty="0"/>
          </a:p>
        </p:txBody>
      </p:sp>
      <p:sp>
        <p:nvSpPr>
          <p:cNvPr id="19" name="Text 17"/>
          <p:cNvSpPr txBox="1"/>
          <p:nvPr/>
        </p:nvSpPr>
        <p:spPr>
          <a:xfrm>
            <a:off x="1325880" y="4681728"/>
            <a:ext cx="3931920" cy="457200"/>
          </a:xfrm>
          <a:prstGeom prst="rect">
            <a:avLst/>
          </a:prstGeom>
          <a:noFill/>
          <a:ln/>
        </p:spPr>
        <p:txBody>
          <a:bodyPr wrap="square" lIns="0" tIns="0" rIns="0" bIns="0" rtlCol="0" anchor="t"/>
          <a:lstStyle/>
          <a:p>
            <a:pPr indent="0" marL="0">
              <a:buNone/>
            </a:pPr>
            <a:r>
              <a:rPr lang="en-US" sz="1200" dirty="0">
                <a:solidFill>
                  <a:schemeClr val="accent3"/>
                </a:solidFill>
              </a:rPr>
              <a:t>Text like "Weekly" mapped to a number of days</a:t>
            </a:r>
            <a:endParaRPr lang="en-US" sz="1200" dirty="0"/>
          </a:p>
        </p:txBody>
      </p:sp>
      <p:sp>
        <p:nvSpPr>
          <p:cNvPr id="20" name="Shape 18"/>
          <p:cNvSpPr/>
          <p:nvPr/>
        </p:nvSpPr>
        <p:spPr>
          <a:xfrm>
            <a:off x="548640" y="5285232"/>
            <a:ext cx="566928" cy="566928"/>
          </a:xfrm>
          <a:prstGeom prst="ellipse">
            <a:avLst/>
          </a:prstGeom>
          <a:solidFill>
            <a:schemeClr val="bg1"/>
          </a:solidFill>
          <a:ln w="19050">
            <a:solidFill>
              <a:schemeClr val="accent1"/>
            </a:solidFill>
            <a:prstDash val="solid"/>
          </a:ln>
        </p:spPr>
      </p:sp>
      <p:sp>
        <p:nvSpPr>
          <p:cNvPr id="21" name="Text 19"/>
          <p:cNvSpPr txBox="1"/>
          <p:nvPr/>
        </p:nvSpPr>
        <p:spPr>
          <a:xfrm>
            <a:off x="548640" y="5285232"/>
            <a:ext cx="566928" cy="566928"/>
          </a:xfrm>
          <a:prstGeom prst="rect">
            <a:avLst/>
          </a:prstGeom>
          <a:noFill/>
          <a:ln/>
        </p:spPr>
        <p:txBody>
          <a:bodyPr wrap="square" lIns="0" tIns="0" rIns="0" bIns="0" rtlCol="0" anchor="ctr"/>
          <a:lstStyle/>
          <a:p>
            <a:pPr algn="ctr" indent="0" marL="0">
              <a:buNone/>
            </a:pPr>
            <a:r>
              <a:rPr lang="en-US" sz="1400" b="1" dirty="0">
                <a:solidFill>
                  <a:schemeClr val="accent1"/>
                </a:solidFill>
              </a:rPr>
              <a:t>05</a:t>
            </a:r>
            <a:endParaRPr lang="en-US" sz="1400" dirty="0"/>
          </a:p>
        </p:txBody>
      </p:sp>
      <p:sp>
        <p:nvSpPr>
          <p:cNvPr id="22" name="Text 20"/>
          <p:cNvSpPr txBox="1"/>
          <p:nvPr/>
        </p:nvSpPr>
        <p:spPr>
          <a:xfrm>
            <a:off x="1325880" y="5266944"/>
            <a:ext cx="3931920" cy="301752"/>
          </a:xfrm>
          <a:prstGeom prst="rect">
            <a:avLst/>
          </a:prstGeom>
          <a:noFill/>
          <a:ln/>
        </p:spPr>
        <p:txBody>
          <a:bodyPr wrap="square" lIns="0" tIns="0" rIns="0" bIns="0" rtlCol="0" anchor="t"/>
          <a:lstStyle/>
          <a:p>
            <a:pPr indent="0" marL="0">
              <a:buNone/>
            </a:pPr>
            <a:r>
              <a:rPr lang="en-US" sz="1500" b="1" dirty="0">
                <a:solidFill>
                  <a:schemeClr val="tx2"/>
                </a:solidFill>
              </a:rPr>
              <a:t>Drop a duplicate</a:t>
            </a:r>
            <a:endParaRPr lang="en-US" sz="1500" dirty="0"/>
          </a:p>
        </p:txBody>
      </p:sp>
      <p:sp>
        <p:nvSpPr>
          <p:cNvPr id="23" name="Text 21"/>
          <p:cNvSpPr txBox="1"/>
          <p:nvPr/>
        </p:nvSpPr>
        <p:spPr>
          <a:xfrm>
            <a:off x="1325880" y="5568696"/>
            <a:ext cx="3931920" cy="457200"/>
          </a:xfrm>
          <a:prstGeom prst="rect">
            <a:avLst/>
          </a:prstGeom>
          <a:noFill/>
          <a:ln/>
        </p:spPr>
        <p:txBody>
          <a:bodyPr wrap="square" lIns="0" tIns="0" rIns="0" bIns="0" rtlCol="0" anchor="t"/>
          <a:lstStyle/>
          <a:p>
            <a:pPr indent="0" marL="0">
              <a:buNone/>
            </a:pPr>
            <a:r>
              <a:rPr lang="en-US" sz="1200" dirty="0">
                <a:solidFill>
                  <a:schemeClr val="accent3"/>
                </a:solidFill>
              </a:rPr>
              <a:t>promo_code_used matched discount_applied on every row</a:t>
            </a:r>
            <a:endParaRPr lang="en-US" sz="1200" dirty="0"/>
          </a:p>
        </p:txBody>
      </p:sp>
      <p:sp>
        <p:nvSpPr>
          <p:cNvPr id="24" name="Shape 22"/>
          <p:cNvSpPr/>
          <p:nvPr/>
        </p:nvSpPr>
        <p:spPr>
          <a:xfrm>
            <a:off x="5769864" y="1700784"/>
            <a:ext cx="5861304" cy="4380873"/>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25" name="Image 0" descr="Notebook cells 10 and 11: null counts showing 37 missing review ratings, then the category-median fill">    </p:cNvPr>
          <p:cNvPicPr>
            <a:picLocks noChangeAspect="1"/>
          </p:cNvPicPr>
          <p:nvPr/>
        </p:nvPicPr>
        <p:blipFill>
          <a:blip r:embed="rId1"/>
          <a:stretch>
            <a:fillRect/>
          </a:stretch>
        </p:blipFill>
        <p:spPr>
          <a:xfrm>
            <a:off x="5806440" y="1737360"/>
            <a:ext cx="5788152" cy="4307721"/>
          </a:xfrm>
          <a:prstGeom prst="rect">
            <a:avLst/>
          </a:prstGeom>
        </p:spPr>
      </p:pic>
      <p:sp>
        <p:nvSpPr>
          <p:cNvPr id="26" name="Text 23"/>
          <p:cNvSpPr txBox="1"/>
          <p:nvPr/>
        </p:nvSpPr>
        <p:spPr>
          <a:xfrm>
            <a:off x="5806440" y="6144768"/>
            <a:ext cx="5833872" cy="228600"/>
          </a:xfrm>
          <a:prstGeom prst="rect">
            <a:avLst/>
          </a:prstGeom>
          <a:noFill/>
          <a:ln/>
        </p:spPr>
        <p:txBody>
          <a:bodyPr wrap="square" lIns="0" tIns="0" rIns="0" bIns="0" rtlCol="0" anchor="t"/>
          <a:lstStyle/>
          <a:p>
            <a:pPr algn="r" indent="0" marL="0">
              <a:buNone/>
            </a:pPr>
            <a:r>
              <a:rPr lang="en-US" sz="1000" dirty="0">
                <a:solidFill>
                  <a:schemeClr val="accent3"/>
                </a:solidFill>
              </a:rPr>
              <a:t>Step 01 in the notebook: 37 nulls in Review Rating, filled per category</a:t>
            </a:r>
            <a:endParaRPr lang="en-US" sz="10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Feature engineering in the notebook</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Age groups came out as planned. The frequency mapping missed two spellings.</a:t>
            </a:r>
            <a:endParaRPr lang="en-US" sz="1600" dirty="0"/>
          </a:p>
        </p:txBody>
      </p:sp>
      <p:sp>
        <p:nvSpPr>
          <p:cNvPr id="4" name="Shape 2"/>
          <p:cNvSpPr/>
          <p:nvPr/>
        </p:nvSpPr>
        <p:spPr>
          <a:xfrm>
            <a:off x="512064" y="1655064"/>
            <a:ext cx="4898389" cy="3456432"/>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Notebook cells 16 and 17: pd.qcut creating age_group, with the first 10 rows">    </p:cNvPr>
          <p:cNvPicPr>
            <a:picLocks noChangeAspect="1"/>
          </p:cNvPicPr>
          <p:nvPr/>
        </p:nvPicPr>
        <p:blipFill>
          <a:blip r:embed="rId1"/>
          <a:stretch>
            <a:fillRect/>
          </a:stretch>
        </p:blipFill>
        <p:spPr>
          <a:xfrm>
            <a:off x="548640" y="1691640"/>
            <a:ext cx="4825237" cy="3383280"/>
          </a:xfrm>
          <a:prstGeom prst="rect">
            <a:avLst/>
          </a:prstGeom>
        </p:spPr>
      </p:pic>
      <p:sp>
        <p:nvSpPr>
          <p:cNvPr id="6" name="Shape 3"/>
          <p:cNvSpPr/>
          <p:nvPr/>
        </p:nvSpPr>
        <p:spPr>
          <a:xfrm>
            <a:off x="5861304" y="1655064"/>
            <a:ext cx="5815584" cy="2171348"/>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7" name="Image 1" descr="Notebook cell 19: frequency_mapping dictionary used to build purchase_frequency_days">    </p:cNvPr>
          <p:cNvPicPr>
            <a:picLocks noChangeAspect="1"/>
          </p:cNvPicPr>
          <p:nvPr/>
        </p:nvPicPr>
        <p:blipFill>
          <a:blip r:embed="rId2"/>
          <a:stretch>
            <a:fillRect/>
          </a:stretch>
        </p:blipFill>
        <p:spPr>
          <a:xfrm>
            <a:off x="5897880" y="1691640"/>
            <a:ext cx="5742432" cy="2098196"/>
          </a:xfrm>
          <a:prstGeom prst="rect">
            <a:avLst/>
          </a:prstGeom>
        </p:spPr>
      </p:pic>
      <p:sp>
        <p:nvSpPr>
          <p:cNvPr id="8" name="Shape 4"/>
          <p:cNvSpPr/>
          <p:nvPr/>
        </p:nvSpPr>
        <p:spPr>
          <a:xfrm>
            <a:off x="548640" y="5257800"/>
            <a:ext cx="4825237" cy="841248"/>
          </a:xfrm>
          <a:prstGeom prst="roundRect">
            <a:avLst>
              <a:gd name="adj" fmla="val 8696"/>
            </a:avLst>
          </a:prstGeom>
          <a:solidFill>
            <a:schemeClr val="bg2"/>
          </a:solidFill>
          <a:ln w="9525">
            <a:solidFill>
              <a:srgbClr val="1C3FD6"/>
            </a:solidFill>
            <a:prstDash val="solid"/>
          </a:ln>
          <a:effectLst>
            <a:outerShdw sx="100000" sy="100000" kx="0" ky="0" algn="bl" rotWithShape="0" blurRad="101600" dist="25400" dir="5400000">
              <a:srgbClr val="0E1F6E">
                <a:alpha val="12000"/>
              </a:srgbClr>
            </a:outerShdw>
          </a:effectLst>
        </p:spPr>
      </p:sp>
      <p:sp>
        <p:nvSpPr>
          <p:cNvPr id="9" name="Text 5"/>
          <p:cNvSpPr txBox="1"/>
          <p:nvPr/>
        </p:nvSpPr>
        <p:spPr>
          <a:xfrm>
            <a:off x="777240" y="5257800"/>
            <a:ext cx="4368037" cy="841248"/>
          </a:xfrm>
          <a:prstGeom prst="rect">
            <a:avLst/>
          </a:prstGeom>
          <a:noFill/>
          <a:ln/>
        </p:spPr>
        <p:txBody>
          <a:bodyPr wrap="square" lIns="0" tIns="0" rIns="0" bIns="0" rtlCol="0" anchor="ctr"/>
          <a:lstStyle/>
          <a:p>
            <a:pPr indent="0" marL="0">
              <a:buNone/>
            </a:pPr>
            <a:r>
              <a:rPr lang="en-US" sz="1300" dirty="0">
                <a:solidFill>
                  <a:schemeClr val="tx1"/>
                </a:solidFill>
              </a:rPr>
              <a:t>pd.qcut puts roughly a quarter of customers in each of the four age groups.</a:t>
            </a:r>
            <a:endParaRPr lang="en-US" sz="1300" dirty="0"/>
          </a:p>
        </p:txBody>
      </p:sp>
      <p:sp>
        <p:nvSpPr>
          <p:cNvPr id="10" name="Shape 6"/>
          <p:cNvSpPr/>
          <p:nvPr/>
        </p:nvSpPr>
        <p:spPr>
          <a:xfrm>
            <a:off x="5897880" y="4109876"/>
            <a:ext cx="5742432" cy="1989172"/>
          </a:xfrm>
          <a:prstGeom prst="roundRect">
            <a:avLst>
              <a:gd name="adj" fmla="val 3678"/>
            </a:avLst>
          </a:prstGeom>
          <a:solidFill>
            <a:schemeClr val="bg2"/>
          </a:solidFill>
          <a:ln w="9525">
            <a:solidFill>
              <a:srgbClr val="1C3FD6"/>
            </a:solidFill>
            <a:prstDash val="solid"/>
          </a:ln>
          <a:effectLst>
            <a:outerShdw sx="100000" sy="100000" kx="0" ky="0" algn="bl" rotWithShape="0" blurRad="101600" dist="25400" dir="5400000">
              <a:srgbClr val="0E1F6E">
                <a:alpha val="12000"/>
              </a:srgbClr>
            </a:outerShdw>
          </a:effectLst>
        </p:spPr>
      </p:sp>
      <p:sp>
        <p:nvSpPr>
          <p:cNvPr id="11" name="Shape 7"/>
          <p:cNvSpPr/>
          <p:nvPr/>
        </p:nvSpPr>
        <p:spPr>
          <a:xfrm>
            <a:off x="6172200" y="4384196"/>
            <a:ext cx="594360" cy="59436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6332677" y="4544674"/>
            <a:ext cx="273406" cy="273406"/>
          </a:xfrm>
          <a:prstGeom prst="rect">
            <a:avLst/>
          </a:prstGeom>
        </p:spPr>
      </p:pic>
      <p:sp>
        <p:nvSpPr>
          <p:cNvPr id="13" name="Text 8"/>
          <p:cNvSpPr txBox="1"/>
          <p:nvPr/>
        </p:nvSpPr>
        <p:spPr>
          <a:xfrm>
            <a:off x="6949440" y="4384196"/>
            <a:ext cx="4462272" cy="365760"/>
          </a:xfrm>
          <a:prstGeom prst="rect">
            <a:avLst/>
          </a:prstGeom>
          <a:noFill/>
          <a:ln/>
        </p:spPr>
        <p:txBody>
          <a:bodyPr wrap="square" lIns="0" tIns="0" rIns="0" bIns="0" rtlCol="0" anchor="t"/>
          <a:lstStyle/>
          <a:p>
            <a:pPr indent="0" marL="0">
              <a:buNone/>
            </a:pPr>
            <a:r>
              <a:rPr lang="en-US" sz="1600" b="1" dirty="0">
                <a:solidFill>
                  <a:schemeClr val="tx2"/>
                </a:solidFill>
              </a:rPr>
              <a:t>Bug caught on review</a:t>
            </a:r>
            <a:endParaRPr lang="en-US" sz="1600" dirty="0"/>
          </a:p>
        </p:txBody>
      </p:sp>
      <p:sp>
        <p:nvSpPr>
          <p:cNvPr id="14" name="Text 9"/>
          <p:cNvSpPr txBox="1"/>
          <p:nvPr/>
        </p:nvSpPr>
        <p:spPr>
          <a:xfrm>
            <a:off x="6949440" y="4795676"/>
            <a:ext cx="4462272" cy="1120492"/>
          </a:xfrm>
          <a:prstGeom prst="rect">
            <a:avLst/>
          </a:prstGeom>
          <a:noFill/>
          <a:ln/>
        </p:spPr>
        <p:txBody>
          <a:bodyPr wrap="square" lIns="0" tIns="0" rIns="0" bIns="0" rtlCol="0" anchor="t"/>
          <a:lstStyle/>
          <a:p>
            <a:pPr indent="0" marL="0">
              <a:buNone/>
            </a:pPr>
            <a:r>
              <a:rPr lang="en-US" sz="1300" dirty="0">
                <a:solidFill>
                  <a:schemeClr val="tx1"/>
                </a:solidFill>
              </a:rPr>
              <a:t>The map says "Bi-weekly" and "Every 3 months", but the data says "Bi-Weekly" and "Every 3 Months". Because of the capital letters, 1,131 rows (29%) get an empty purchase_frequency_days. No SQL query uses that column, but fix the keys before reusing it.</a:t>
            </a:r>
            <a:endParaRPr lang="en-US" sz="13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Final check, then load to PostgreSQL</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One redundant column dropped, then the cleaned table went into PostgreSQL.</a:t>
            </a:r>
            <a:endParaRPr lang="en-US" sz="1600" dirty="0"/>
          </a:p>
        </p:txBody>
      </p:sp>
      <p:sp>
        <p:nvSpPr>
          <p:cNvPr id="4" name="Shape 2"/>
          <p:cNvSpPr/>
          <p:nvPr/>
        </p:nvSpPr>
        <p:spPr>
          <a:xfrm>
            <a:off x="512064" y="1655064"/>
            <a:ext cx="5010912" cy="1503486"/>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Notebook cells 23 and 24: discount_applied equals promo_code_used on every row, so the column is dropped">    </p:cNvPr>
          <p:cNvPicPr>
            <a:picLocks noChangeAspect="1"/>
          </p:cNvPicPr>
          <p:nvPr/>
        </p:nvPicPr>
        <p:blipFill>
          <a:blip r:embed="rId1"/>
          <a:stretch>
            <a:fillRect/>
          </a:stretch>
        </p:blipFill>
        <p:spPr>
          <a:xfrm>
            <a:off x="548640" y="1691640"/>
            <a:ext cx="4937760" cy="1430334"/>
          </a:xfrm>
          <a:prstGeom prst="rect">
            <a:avLst/>
          </a:prstGeom>
        </p:spPr>
      </p:pic>
      <p:sp>
        <p:nvSpPr>
          <p:cNvPr id="6" name="Text 3"/>
          <p:cNvSpPr txBox="1"/>
          <p:nvPr/>
        </p:nvSpPr>
        <p:spPr>
          <a:xfrm>
            <a:off x="548640" y="3304854"/>
            <a:ext cx="4937760" cy="548640"/>
          </a:xfrm>
          <a:prstGeom prst="rect">
            <a:avLst/>
          </a:prstGeom>
          <a:noFill/>
          <a:ln/>
        </p:spPr>
        <p:txBody>
          <a:bodyPr wrap="square" lIns="0" tIns="0" rIns="0" bIns="0" rtlCol="0" anchor="t"/>
          <a:lstStyle/>
          <a:p>
            <a:pPr indent="0" marL="0">
              <a:buNone/>
            </a:pPr>
            <a:r>
              <a:rPr lang="en-US" sz="1300" dirty="0">
                <a:solidFill>
                  <a:schemeClr val="accent3"/>
                </a:solidFill>
              </a:rPr>
              <a:t>discount_applied and promo_code_used agree on all 3,900 rows, so one of them had to go.</a:t>
            </a:r>
            <a:endParaRPr lang="en-US" sz="1300" dirty="0"/>
          </a:p>
        </p:txBody>
      </p:sp>
      <p:sp>
        <p:nvSpPr>
          <p:cNvPr id="7" name="Shape 4"/>
          <p:cNvSpPr/>
          <p:nvPr/>
        </p:nvSpPr>
        <p:spPr>
          <a:xfrm>
            <a:off x="548640" y="4206240"/>
            <a:ext cx="4937760" cy="1874520"/>
          </a:xfrm>
          <a:prstGeom prst="roundRect">
            <a:avLst>
              <a:gd name="adj" fmla="val 3902"/>
            </a:avLst>
          </a:prstGeom>
          <a:solidFill>
            <a:schemeClr val="accent1"/>
          </a:solidFill>
          <a:ln w="12700">
            <a:solidFill>
              <a:schemeClr val="accent1"/>
            </a:solidFill>
            <a:prstDash val="solid"/>
          </a:ln>
        </p:spPr>
      </p:sp>
      <p:sp>
        <p:nvSpPr>
          <p:cNvPr id="8" name="Text 5"/>
          <p:cNvSpPr txBox="1"/>
          <p:nvPr/>
        </p:nvSpPr>
        <p:spPr>
          <a:xfrm>
            <a:off x="822960" y="4389120"/>
            <a:ext cx="4389120" cy="731520"/>
          </a:xfrm>
          <a:prstGeom prst="rect">
            <a:avLst/>
          </a:prstGeom>
          <a:noFill/>
          <a:ln/>
        </p:spPr>
        <p:txBody>
          <a:bodyPr wrap="square" lIns="0" tIns="0" rIns="0" bIns="0" rtlCol="0" anchor="t"/>
          <a:lstStyle/>
          <a:p>
            <a:pPr indent="0" marL="0">
              <a:buNone/>
            </a:pPr>
            <a:r>
              <a:rPr lang="en-US" sz="4000" b="1" dirty="0">
                <a:solidFill>
                  <a:schemeClr val="bg1"/>
                </a:solidFill>
              </a:rPr>
              <a:t>3,900 × 19</a:t>
            </a:r>
            <a:endParaRPr lang="en-US" sz="4000" dirty="0"/>
          </a:p>
        </p:txBody>
      </p:sp>
      <p:sp>
        <p:nvSpPr>
          <p:cNvPr id="9" name="Text 6"/>
          <p:cNvSpPr txBox="1"/>
          <p:nvPr/>
        </p:nvSpPr>
        <p:spPr>
          <a:xfrm>
            <a:off x="822960" y="5120640"/>
            <a:ext cx="4434840" cy="868680"/>
          </a:xfrm>
          <a:prstGeom prst="rect">
            <a:avLst/>
          </a:prstGeom>
          <a:noFill/>
          <a:ln/>
        </p:spPr>
        <p:txBody>
          <a:bodyPr wrap="square" lIns="0" tIns="0" rIns="0" bIns="0" rtlCol="0" anchor="t"/>
          <a:lstStyle/>
          <a:p>
            <a:pPr indent="0" marL="0">
              <a:buNone/>
            </a:pPr>
            <a:r>
              <a:rPr lang="en-US" sz="1200" dirty="0">
                <a:solidFill>
                  <a:schemeClr val="bg1"/>
                </a:solidFill>
              </a:rPr>
              <a:t>rows and columns loaded into the customer table: 18 original columns, minus promo_code_used, plus age_group and purchase_frequency_days.</a:t>
            </a:r>
            <a:endParaRPr lang="en-US" sz="1200" dirty="0"/>
          </a:p>
        </p:txBody>
      </p:sp>
      <p:sp>
        <p:nvSpPr>
          <p:cNvPr id="10" name="Shape 7"/>
          <p:cNvSpPr/>
          <p:nvPr/>
        </p:nvSpPr>
        <p:spPr>
          <a:xfrm>
            <a:off x="5907024" y="1655064"/>
            <a:ext cx="5769864" cy="3373411"/>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11" name="Image 1" descr="Notebook cell 30: SQLAlchemy engine and df.to_sql loading the table into PostgreSQL">    </p:cNvPr>
          <p:cNvPicPr>
            <a:picLocks noChangeAspect="1"/>
          </p:cNvPicPr>
          <p:nvPr/>
        </p:nvPicPr>
        <p:blipFill>
          <a:blip r:embed="rId2"/>
          <a:stretch>
            <a:fillRect/>
          </a:stretch>
        </p:blipFill>
        <p:spPr>
          <a:xfrm>
            <a:off x="5943600" y="1691640"/>
            <a:ext cx="5696712" cy="3300259"/>
          </a:xfrm>
          <a:prstGeom prst="rect">
            <a:avLst/>
          </a:prstGeom>
        </p:spPr>
      </p:pic>
      <p:sp>
        <p:nvSpPr>
          <p:cNvPr id="12" name="Text 8"/>
          <p:cNvSpPr txBox="1"/>
          <p:nvPr/>
        </p:nvSpPr>
        <p:spPr>
          <a:xfrm>
            <a:off x="5943600" y="5101627"/>
            <a:ext cx="5696712" cy="228600"/>
          </a:xfrm>
          <a:prstGeom prst="rect">
            <a:avLst/>
          </a:prstGeom>
          <a:noFill/>
          <a:ln/>
        </p:spPr>
        <p:txBody>
          <a:bodyPr wrap="square" lIns="0" tIns="0" rIns="0" bIns="0" rtlCol="0" anchor="t"/>
          <a:lstStyle/>
          <a:p>
            <a:pPr algn="r" indent="0" marL="0">
              <a:buNone/>
            </a:pPr>
            <a:r>
              <a:rPr lang="en-US" sz="1000" dirty="0">
                <a:solidFill>
                  <a:schemeClr val="accent3"/>
                </a:solidFill>
              </a:rPr>
              <a:t>Notebook cell 30. Password masked for this slide.</a:t>
            </a:r>
            <a:endParaRPr lang="en-US" sz="10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chemeClr val="accent1"/>
          </a:solidFill>
          <a:ln w="12700">
            <a:solidFill>
              <a:schemeClr val="accent1"/>
            </a:solidFill>
            <a:prstDash val="solid"/>
          </a:ln>
        </p:spPr>
      </p:sp>
      <p:sp>
        <p:nvSpPr>
          <p:cNvPr id="3" name="Shape 1"/>
          <p:cNvSpPr/>
          <p:nvPr/>
        </p:nvSpPr>
        <p:spPr>
          <a:xfrm>
            <a:off x="-1463040" y="5212080"/>
            <a:ext cx="3108960" cy="3108960"/>
          </a:xfrm>
          <a:prstGeom prst="ellipse">
            <a:avLst/>
          </a:prstGeom>
          <a:ln w="355600">
            <a:solidFill>
              <a:srgbClr val="A9BCFF">
                <a:alpha val="60000"/>
              </a:srgbClr>
            </a:solidFill>
            <a:prstDash val="solid"/>
          </a:ln>
        </p:spPr>
      </p:sp>
      <p:sp>
        <p:nvSpPr>
          <p:cNvPr id="4" name="Text 2"/>
          <p:cNvSpPr txBox="1"/>
          <p:nvPr/>
        </p:nvSpPr>
        <p:spPr>
          <a:xfrm>
            <a:off x="640080" y="1828800"/>
            <a:ext cx="2926080" cy="1280160"/>
          </a:xfrm>
          <a:prstGeom prst="rect">
            <a:avLst/>
          </a:prstGeom>
          <a:noFill/>
          <a:ln/>
        </p:spPr>
        <p:txBody>
          <a:bodyPr wrap="square" lIns="0" tIns="0" rIns="0" bIns="0" rtlCol="0" anchor="t"/>
          <a:lstStyle/>
          <a:p>
            <a:pPr indent="0" marL="0">
              <a:buNone/>
            </a:pPr>
            <a:r>
              <a:rPr lang="en-US" sz="9600" b="1" dirty="0">
                <a:solidFill>
                  <a:schemeClr val="bg1"/>
                </a:solidFill>
              </a:rPr>
              <a:t>10</a:t>
            </a:r>
            <a:endParaRPr lang="en-US" sz="9600" dirty="0"/>
          </a:p>
        </p:txBody>
      </p:sp>
      <p:sp>
        <p:nvSpPr>
          <p:cNvPr id="5" name="Text 3"/>
          <p:cNvSpPr txBox="1"/>
          <p:nvPr/>
        </p:nvSpPr>
        <p:spPr>
          <a:xfrm>
            <a:off x="640080" y="3200400"/>
            <a:ext cx="3108960" cy="822960"/>
          </a:xfrm>
          <a:prstGeom prst="rect">
            <a:avLst/>
          </a:prstGeom>
          <a:noFill/>
          <a:ln/>
        </p:spPr>
        <p:txBody>
          <a:bodyPr wrap="square" lIns="0" tIns="0" rIns="0" bIns="0" rtlCol="0" anchor="t"/>
          <a:lstStyle/>
          <a:p>
            <a:pPr indent="0" marL="0">
              <a:buNone/>
            </a:pPr>
            <a:r>
              <a:rPr lang="en-US" sz="2000" b="1" dirty="0">
                <a:solidFill>
                  <a:schemeClr val="bg1"/>
                </a:solidFill>
              </a:rPr>
              <a:t>business questions, answered in PostgreSQL</a:t>
            </a:r>
            <a:endParaRPr lang="en-US" sz="2000" dirty="0"/>
          </a:p>
        </p:txBody>
      </p:sp>
      <p:sp>
        <p:nvSpPr>
          <p:cNvPr id="6" name="Text 4"/>
          <p:cNvSpPr txBox="1"/>
          <p:nvPr/>
        </p:nvSpPr>
        <p:spPr>
          <a:xfrm>
            <a:off x="640080" y="4160520"/>
            <a:ext cx="3108960" cy="640080"/>
          </a:xfrm>
          <a:prstGeom prst="rect">
            <a:avLst/>
          </a:prstGeom>
          <a:noFill/>
          <a:ln/>
        </p:spPr>
        <p:txBody>
          <a:bodyPr wrap="square" lIns="0" tIns="0" rIns="0" bIns="0" rtlCol="0" anchor="t"/>
          <a:lstStyle/>
          <a:p>
            <a:pPr indent="0" marL="0">
              <a:buNone/>
            </a:pPr>
            <a:r>
              <a:rPr lang="en-US" sz="1400" dirty="0">
                <a:solidFill>
                  <a:schemeClr val="bg1"/>
                </a:solidFill>
              </a:rPr>
              <a:t>Every result was re-checked against the cleaned data.</a:t>
            </a:r>
            <a:endParaRPr lang="en-US" sz="1400" dirty="0"/>
          </a:p>
        </p:txBody>
      </p:sp>
      <p:sp>
        <p:nvSpPr>
          <p:cNvPr id="7" name="Shape 5"/>
          <p:cNvSpPr/>
          <p:nvPr/>
        </p:nvSpPr>
        <p:spPr>
          <a:xfrm>
            <a:off x="4709160" y="68580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8" name="Text 6"/>
          <p:cNvSpPr txBox="1"/>
          <p:nvPr/>
        </p:nvSpPr>
        <p:spPr>
          <a:xfrm>
            <a:off x="4910328" y="68580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Q1</a:t>
            </a:r>
            <a:endParaRPr lang="en-US" sz="2000" dirty="0"/>
          </a:p>
        </p:txBody>
      </p:sp>
      <p:sp>
        <p:nvSpPr>
          <p:cNvPr id="9" name="Text 7"/>
          <p:cNvSpPr txBox="1"/>
          <p:nvPr/>
        </p:nvSpPr>
        <p:spPr>
          <a:xfrm>
            <a:off x="5532120" y="685800"/>
            <a:ext cx="2377440" cy="896112"/>
          </a:xfrm>
          <a:prstGeom prst="rect">
            <a:avLst/>
          </a:prstGeom>
          <a:noFill/>
          <a:ln/>
        </p:spPr>
        <p:txBody>
          <a:bodyPr wrap="square" lIns="0" tIns="0" rIns="0" bIns="0" rtlCol="0" anchor="ctr"/>
          <a:lstStyle/>
          <a:p>
            <a:pPr indent="0" marL="0">
              <a:buNone/>
            </a:pPr>
            <a:r>
              <a:rPr lang="en-US" sz="1400" dirty="0">
                <a:solidFill>
                  <a:schemeClr val="tx1"/>
                </a:solidFill>
              </a:rPr>
              <a:t>Revenue by gender</a:t>
            </a:r>
            <a:endParaRPr lang="en-US" sz="1400" dirty="0"/>
          </a:p>
        </p:txBody>
      </p:sp>
      <p:sp>
        <p:nvSpPr>
          <p:cNvPr id="10" name="Shape 8"/>
          <p:cNvSpPr/>
          <p:nvPr/>
        </p:nvSpPr>
        <p:spPr>
          <a:xfrm>
            <a:off x="4709160" y="178308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1" name="Text 9"/>
          <p:cNvSpPr txBox="1"/>
          <p:nvPr/>
        </p:nvSpPr>
        <p:spPr>
          <a:xfrm>
            <a:off x="4910328" y="178308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Q2</a:t>
            </a:r>
            <a:endParaRPr lang="en-US" sz="2000" dirty="0"/>
          </a:p>
        </p:txBody>
      </p:sp>
      <p:sp>
        <p:nvSpPr>
          <p:cNvPr id="12" name="Text 10"/>
          <p:cNvSpPr txBox="1"/>
          <p:nvPr/>
        </p:nvSpPr>
        <p:spPr>
          <a:xfrm>
            <a:off x="5532120" y="1783080"/>
            <a:ext cx="2377440" cy="896112"/>
          </a:xfrm>
          <a:prstGeom prst="rect">
            <a:avLst/>
          </a:prstGeom>
          <a:noFill/>
          <a:ln/>
        </p:spPr>
        <p:txBody>
          <a:bodyPr wrap="square" lIns="0" tIns="0" rIns="0" bIns="0" rtlCol="0" anchor="ctr"/>
          <a:lstStyle/>
          <a:p>
            <a:pPr indent="0" marL="0">
              <a:buNone/>
            </a:pPr>
            <a:r>
              <a:rPr lang="en-US" sz="1400" dirty="0">
                <a:solidFill>
                  <a:schemeClr val="tx1"/>
                </a:solidFill>
              </a:rPr>
              <a:t>High-spending discount users</a:t>
            </a:r>
            <a:endParaRPr lang="en-US" sz="1400" dirty="0"/>
          </a:p>
        </p:txBody>
      </p:sp>
      <p:sp>
        <p:nvSpPr>
          <p:cNvPr id="13" name="Shape 11"/>
          <p:cNvSpPr/>
          <p:nvPr/>
        </p:nvSpPr>
        <p:spPr>
          <a:xfrm>
            <a:off x="4709160" y="288036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4" name="Text 12"/>
          <p:cNvSpPr txBox="1"/>
          <p:nvPr/>
        </p:nvSpPr>
        <p:spPr>
          <a:xfrm>
            <a:off x="4910328" y="288036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Q3</a:t>
            </a:r>
            <a:endParaRPr lang="en-US" sz="2000" dirty="0"/>
          </a:p>
        </p:txBody>
      </p:sp>
      <p:sp>
        <p:nvSpPr>
          <p:cNvPr id="15" name="Text 13"/>
          <p:cNvSpPr txBox="1"/>
          <p:nvPr/>
        </p:nvSpPr>
        <p:spPr>
          <a:xfrm>
            <a:off x="5532120" y="2880360"/>
            <a:ext cx="2377440" cy="896112"/>
          </a:xfrm>
          <a:prstGeom prst="rect">
            <a:avLst/>
          </a:prstGeom>
          <a:noFill/>
          <a:ln/>
        </p:spPr>
        <p:txBody>
          <a:bodyPr wrap="square" lIns="0" tIns="0" rIns="0" bIns="0" rtlCol="0" anchor="ctr"/>
          <a:lstStyle/>
          <a:p>
            <a:pPr indent="0" marL="0">
              <a:buNone/>
            </a:pPr>
            <a:r>
              <a:rPr lang="en-US" sz="1400" dirty="0">
                <a:solidFill>
                  <a:schemeClr val="tx1"/>
                </a:solidFill>
              </a:rPr>
              <a:t>Top 5 products by rating</a:t>
            </a:r>
            <a:endParaRPr lang="en-US" sz="1400" dirty="0"/>
          </a:p>
        </p:txBody>
      </p:sp>
      <p:sp>
        <p:nvSpPr>
          <p:cNvPr id="16" name="Shape 14"/>
          <p:cNvSpPr/>
          <p:nvPr/>
        </p:nvSpPr>
        <p:spPr>
          <a:xfrm>
            <a:off x="4709160" y="397764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7" name="Text 15"/>
          <p:cNvSpPr txBox="1"/>
          <p:nvPr/>
        </p:nvSpPr>
        <p:spPr>
          <a:xfrm>
            <a:off x="4910328" y="397764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Q4</a:t>
            </a:r>
            <a:endParaRPr lang="en-US" sz="2000" dirty="0"/>
          </a:p>
        </p:txBody>
      </p:sp>
      <p:sp>
        <p:nvSpPr>
          <p:cNvPr id="18" name="Text 16"/>
          <p:cNvSpPr txBox="1"/>
          <p:nvPr/>
        </p:nvSpPr>
        <p:spPr>
          <a:xfrm>
            <a:off x="5532120" y="3977640"/>
            <a:ext cx="2377440" cy="896112"/>
          </a:xfrm>
          <a:prstGeom prst="rect">
            <a:avLst/>
          </a:prstGeom>
          <a:noFill/>
          <a:ln/>
        </p:spPr>
        <p:txBody>
          <a:bodyPr wrap="square" lIns="0" tIns="0" rIns="0" bIns="0" rtlCol="0" anchor="ctr"/>
          <a:lstStyle/>
          <a:p>
            <a:pPr indent="0" marL="0">
              <a:buNone/>
            </a:pPr>
            <a:r>
              <a:rPr lang="en-US" sz="1400" dirty="0">
                <a:solidFill>
                  <a:schemeClr val="tx1"/>
                </a:solidFill>
              </a:rPr>
              <a:t>Standard vs Express shipping</a:t>
            </a:r>
            <a:endParaRPr lang="en-US" sz="1400" dirty="0"/>
          </a:p>
        </p:txBody>
      </p:sp>
      <p:sp>
        <p:nvSpPr>
          <p:cNvPr id="19" name="Shape 17"/>
          <p:cNvSpPr/>
          <p:nvPr/>
        </p:nvSpPr>
        <p:spPr>
          <a:xfrm>
            <a:off x="4709160" y="507492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20" name="Text 18"/>
          <p:cNvSpPr txBox="1"/>
          <p:nvPr/>
        </p:nvSpPr>
        <p:spPr>
          <a:xfrm>
            <a:off x="4910328" y="507492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Q5</a:t>
            </a:r>
            <a:endParaRPr lang="en-US" sz="2000" dirty="0"/>
          </a:p>
        </p:txBody>
      </p:sp>
      <p:sp>
        <p:nvSpPr>
          <p:cNvPr id="21" name="Text 19"/>
          <p:cNvSpPr txBox="1"/>
          <p:nvPr/>
        </p:nvSpPr>
        <p:spPr>
          <a:xfrm>
            <a:off x="5532120" y="5074920"/>
            <a:ext cx="2377440" cy="896112"/>
          </a:xfrm>
          <a:prstGeom prst="rect">
            <a:avLst/>
          </a:prstGeom>
          <a:noFill/>
          <a:ln/>
        </p:spPr>
        <p:txBody>
          <a:bodyPr wrap="square" lIns="0" tIns="0" rIns="0" bIns="0" rtlCol="0" anchor="ctr"/>
          <a:lstStyle/>
          <a:p>
            <a:pPr indent="0" marL="0">
              <a:buNone/>
            </a:pPr>
            <a:r>
              <a:rPr lang="en-US" sz="1400" dirty="0">
                <a:solidFill>
                  <a:schemeClr val="tx1"/>
                </a:solidFill>
              </a:rPr>
              <a:t>Do subscribers spend more?</a:t>
            </a:r>
            <a:endParaRPr lang="en-US" sz="1400" dirty="0"/>
          </a:p>
        </p:txBody>
      </p:sp>
      <p:sp>
        <p:nvSpPr>
          <p:cNvPr id="22" name="Shape 20"/>
          <p:cNvSpPr/>
          <p:nvPr/>
        </p:nvSpPr>
        <p:spPr>
          <a:xfrm>
            <a:off x="8275320" y="68580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23" name="Text 21"/>
          <p:cNvSpPr txBox="1"/>
          <p:nvPr/>
        </p:nvSpPr>
        <p:spPr>
          <a:xfrm>
            <a:off x="8476488" y="68580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Q6</a:t>
            </a:r>
            <a:endParaRPr lang="en-US" sz="2000" dirty="0"/>
          </a:p>
        </p:txBody>
      </p:sp>
      <p:sp>
        <p:nvSpPr>
          <p:cNvPr id="24" name="Text 22"/>
          <p:cNvSpPr txBox="1"/>
          <p:nvPr/>
        </p:nvSpPr>
        <p:spPr>
          <a:xfrm>
            <a:off x="9098280" y="685800"/>
            <a:ext cx="2377440" cy="896112"/>
          </a:xfrm>
          <a:prstGeom prst="rect">
            <a:avLst/>
          </a:prstGeom>
          <a:noFill/>
          <a:ln/>
        </p:spPr>
        <p:txBody>
          <a:bodyPr wrap="square" lIns="0" tIns="0" rIns="0" bIns="0" rtlCol="0" anchor="ctr"/>
          <a:lstStyle/>
          <a:p>
            <a:pPr indent="0" marL="0">
              <a:buNone/>
            </a:pPr>
            <a:r>
              <a:rPr lang="en-US" sz="1400" dirty="0">
                <a:solidFill>
                  <a:schemeClr val="tx1"/>
                </a:solidFill>
              </a:rPr>
              <a:t>Products with the highest discount rate</a:t>
            </a:r>
            <a:endParaRPr lang="en-US" sz="1400" dirty="0"/>
          </a:p>
        </p:txBody>
      </p:sp>
      <p:sp>
        <p:nvSpPr>
          <p:cNvPr id="25" name="Shape 23"/>
          <p:cNvSpPr/>
          <p:nvPr/>
        </p:nvSpPr>
        <p:spPr>
          <a:xfrm>
            <a:off x="8275320" y="178308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26" name="Text 24"/>
          <p:cNvSpPr txBox="1"/>
          <p:nvPr/>
        </p:nvSpPr>
        <p:spPr>
          <a:xfrm>
            <a:off x="8476488" y="178308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Q7</a:t>
            </a:r>
            <a:endParaRPr lang="en-US" sz="2000" dirty="0"/>
          </a:p>
        </p:txBody>
      </p:sp>
      <p:sp>
        <p:nvSpPr>
          <p:cNvPr id="27" name="Text 25"/>
          <p:cNvSpPr txBox="1"/>
          <p:nvPr/>
        </p:nvSpPr>
        <p:spPr>
          <a:xfrm>
            <a:off x="9098280" y="1783080"/>
            <a:ext cx="2377440" cy="896112"/>
          </a:xfrm>
          <a:prstGeom prst="rect">
            <a:avLst/>
          </a:prstGeom>
          <a:noFill/>
          <a:ln/>
        </p:spPr>
        <p:txBody>
          <a:bodyPr wrap="square" lIns="0" tIns="0" rIns="0" bIns="0" rtlCol="0" anchor="ctr"/>
          <a:lstStyle/>
          <a:p>
            <a:pPr indent="0" marL="0">
              <a:buNone/>
            </a:pPr>
            <a:r>
              <a:rPr lang="en-US" sz="1400" dirty="0">
                <a:solidFill>
                  <a:schemeClr val="tx1"/>
                </a:solidFill>
              </a:rPr>
              <a:t>New, Returning and Loyal segments</a:t>
            </a:r>
            <a:endParaRPr lang="en-US" sz="1400" dirty="0"/>
          </a:p>
        </p:txBody>
      </p:sp>
      <p:sp>
        <p:nvSpPr>
          <p:cNvPr id="28" name="Shape 26"/>
          <p:cNvSpPr/>
          <p:nvPr/>
        </p:nvSpPr>
        <p:spPr>
          <a:xfrm>
            <a:off x="8275320" y="288036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29" name="Text 27"/>
          <p:cNvSpPr txBox="1"/>
          <p:nvPr/>
        </p:nvSpPr>
        <p:spPr>
          <a:xfrm>
            <a:off x="8476488" y="288036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Q8</a:t>
            </a:r>
            <a:endParaRPr lang="en-US" sz="2000" dirty="0"/>
          </a:p>
        </p:txBody>
      </p:sp>
      <p:sp>
        <p:nvSpPr>
          <p:cNvPr id="30" name="Text 28"/>
          <p:cNvSpPr txBox="1"/>
          <p:nvPr/>
        </p:nvSpPr>
        <p:spPr>
          <a:xfrm>
            <a:off x="9098280" y="2880360"/>
            <a:ext cx="2377440" cy="896112"/>
          </a:xfrm>
          <a:prstGeom prst="rect">
            <a:avLst/>
          </a:prstGeom>
          <a:noFill/>
          <a:ln/>
        </p:spPr>
        <p:txBody>
          <a:bodyPr wrap="square" lIns="0" tIns="0" rIns="0" bIns="0" rtlCol="0" anchor="ctr"/>
          <a:lstStyle/>
          <a:p>
            <a:pPr indent="0" marL="0">
              <a:buNone/>
            </a:pPr>
            <a:r>
              <a:rPr lang="en-US" sz="1400" dirty="0">
                <a:solidFill>
                  <a:schemeClr val="tx1"/>
                </a:solidFill>
              </a:rPr>
              <a:t>Top 3 products in each category</a:t>
            </a:r>
            <a:endParaRPr lang="en-US" sz="1400" dirty="0"/>
          </a:p>
        </p:txBody>
      </p:sp>
      <p:sp>
        <p:nvSpPr>
          <p:cNvPr id="31" name="Shape 29"/>
          <p:cNvSpPr/>
          <p:nvPr/>
        </p:nvSpPr>
        <p:spPr>
          <a:xfrm>
            <a:off x="8275320" y="397764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32" name="Text 30"/>
          <p:cNvSpPr txBox="1"/>
          <p:nvPr/>
        </p:nvSpPr>
        <p:spPr>
          <a:xfrm>
            <a:off x="8476488" y="397764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Q9</a:t>
            </a:r>
            <a:endParaRPr lang="en-US" sz="2000" dirty="0"/>
          </a:p>
        </p:txBody>
      </p:sp>
      <p:sp>
        <p:nvSpPr>
          <p:cNvPr id="33" name="Text 31"/>
          <p:cNvSpPr txBox="1"/>
          <p:nvPr/>
        </p:nvSpPr>
        <p:spPr>
          <a:xfrm>
            <a:off x="9098280" y="3977640"/>
            <a:ext cx="2377440" cy="896112"/>
          </a:xfrm>
          <a:prstGeom prst="rect">
            <a:avLst/>
          </a:prstGeom>
          <a:noFill/>
          <a:ln/>
        </p:spPr>
        <p:txBody>
          <a:bodyPr wrap="square" lIns="0" tIns="0" rIns="0" bIns="0" rtlCol="0" anchor="ctr"/>
          <a:lstStyle/>
          <a:p>
            <a:pPr indent="0" marL="0">
              <a:buNone/>
            </a:pPr>
            <a:r>
              <a:rPr lang="en-US" sz="1400" dirty="0">
                <a:solidFill>
                  <a:schemeClr val="tx1"/>
                </a:solidFill>
              </a:rPr>
              <a:t>Do repeat buyers subscribe more?</a:t>
            </a:r>
            <a:endParaRPr lang="en-US" sz="1400" dirty="0"/>
          </a:p>
        </p:txBody>
      </p:sp>
      <p:sp>
        <p:nvSpPr>
          <p:cNvPr id="34" name="Shape 32"/>
          <p:cNvSpPr/>
          <p:nvPr/>
        </p:nvSpPr>
        <p:spPr>
          <a:xfrm>
            <a:off x="8275320" y="5074920"/>
            <a:ext cx="3337560" cy="896112"/>
          </a:xfrm>
          <a:prstGeom prst="roundRect">
            <a:avLst>
              <a:gd name="adj" fmla="val 8163"/>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35" name="Text 33"/>
          <p:cNvSpPr txBox="1"/>
          <p:nvPr/>
        </p:nvSpPr>
        <p:spPr>
          <a:xfrm>
            <a:off x="8476488" y="5074920"/>
            <a:ext cx="594360" cy="896112"/>
          </a:xfrm>
          <a:prstGeom prst="rect">
            <a:avLst/>
          </a:prstGeom>
          <a:noFill/>
          <a:ln/>
        </p:spPr>
        <p:txBody>
          <a:bodyPr wrap="square" lIns="0" tIns="0" rIns="0" bIns="0" rtlCol="0" anchor="ctr"/>
          <a:lstStyle/>
          <a:p>
            <a:pPr indent="0" marL="0">
              <a:buNone/>
            </a:pPr>
            <a:r>
              <a:rPr lang="en-US" sz="2000" b="1" dirty="0">
                <a:solidFill>
                  <a:schemeClr val="accent1"/>
                </a:solidFill>
              </a:rPr>
              <a:t>Q10</a:t>
            </a:r>
            <a:endParaRPr lang="en-US" sz="2000" dirty="0"/>
          </a:p>
        </p:txBody>
      </p:sp>
      <p:sp>
        <p:nvSpPr>
          <p:cNvPr id="36" name="Text 34"/>
          <p:cNvSpPr txBox="1"/>
          <p:nvPr/>
        </p:nvSpPr>
        <p:spPr>
          <a:xfrm>
            <a:off x="9098280" y="5074920"/>
            <a:ext cx="2377440" cy="896112"/>
          </a:xfrm>
          <a:prstGeom prst="rect">
            <a:avLst/>
          </a:prstGeom>
          <a:noFill/>
          <a:ln/>
        </p:spPr>
        <p:txBody>
          <a:bodyPr wrap="square" lIns="0" tIns="0" rIns="0" bIns="0" rtlCol="0" anchor="ctr"/>
          <a:lstStyle/>
          <a:p>
            <a:pPr indent="0" marL="0">
              <a:buNone/>
            </a:pPr>
            <a:r>
              <a:rPr lang="en-US" sz="1400" dirty="0">
                <a:solidFill>
                  <a:schemeClr val="tx1"/>
                </a:solidFill>
              </a:rPr>
              <a:t>Revenue by age group</a:t>
            </a:r>
            <a:endParaRPr lang="en-US" sz="14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Revenue by gender</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Q1  ·  Men bring in 68% of revenue, but that's headcount. Women spend slightly more per purchase.</a:t>
            </a:r>
            <a:endParaRPr lang="en-US" sz="1600" dirty="0"/>
          </a:p>
        </p:txBody>
      </p:sp>
      <p:sp>
        <p:nvSpPr>
          <p:cNvPr id="4" name="Shape 2"/>
          <p:cNvSpPr/>
          <p:nvPr/>
        </p:nvSpPr>
        <p:spPr>
          <a:xfrm>
            <a:off x="512064" y="1655064"/>
            <a:ext cx="4736592" cy="2494172"/>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Q1 query and result: Male 157,890, Female 75,191">    </p:cNvPr>
          <p:cNvPicPr>
            <a:picLocks noChangeAspect="1"/>
          </p:cNvPicPr>
          <p:nvPr/>
        </p:nvPicPr>
        <p:blipFill>
          <a:blip r:embed="rId1"/>
          <a:stretch>
            <a:fillRect/>
          </a:stretch>
        </p:blipFill>
        <p:spPr>
          <a:xfrm>
            <a:off x="548640" y="1691640"/>
            <a:ext cx="4663440" cy="2421020"/>
          </a:xfrm>
          <a:prstGeom prst="rect">
            <a:avLst/>
          </a:prstGeom>
        </p:spPr>
      </p:pic>
      <p:sp>
        <p:nvSpPr>
          <p:cNvPr id="6" name="Shape 3"/>
          <p:cNvSpPr/>
          <p:nvPr/>
        </p:nvSpPr>
        <p:spPr>
          <a:xfrm>
            <a:off x="548640" y="4434840"/>
            <a:ext cx="4663440" cy="1645920"/>
          </a:xfrm>
          <a:prstGeom prst="roundRect">
            <a:avLst>
              <a:gd name="adj" fmla="val 4444"/>
            </a:avLst>
          </a:prstGeom>
          <a:solidFill>
            <a:schemeClr val="bg2"/>
          </a:solidFill>
          <a:ln w="9525">
            <a:solidFill>
              <a:srgbClr val="1C3FD6"/>
            </a:solidFill>
            <a:prstDash val="solid"/>
          </a:ln>
          <a:effectLst>
            <a:outerShdw sx="100000" sy="100000" kx="0" ky="0" algn="bl" rotWithShape="0" blurRad="101600" dist="25400" dir="5400000">
              <a:srgbClr val="0E1F6E">
                <a:alpha val="12000"/>
              </a:srgbClr>
            </a:outerShdw>
          </a:effectLst>
        </p:spPr>
      </p:sp>
      <p:sp>
        <p:nvSpPr>
          <p:cNvPr id="7" name="Text 4"/>
          <p:cNvSpPr txBox="1"/>
          <p:nvPr/>
        </p:nvSpPr>
        <p:spPr>
          <a:xfrm>
            <a:off x="777240" y="4526280"/>
            <a:ext cx="4206240" cy="1463040"/>
          </a:xfrm>
          <a:prstGeom prst="rect">
            <a:avLst/>
          </a:prstGeom>
          <a:noFill/>
          <a:ln/>
        </p:spPr>
        <p:txBody>
          <a:bodyPr wrap="square" lIns="0" tIns="0" rIns="0" bIns="0" rtlCol="0" anchor="ctr"/>
          <a:lstStyle/>
          <a:p>
            <a:pPr indent="0" marL="0">
              <a:buNone/>
            </a:pPr>
            <a:r>
              <a:rPr lang="en-US" sz="1300" dirty="0">
                <a:solidFill>
                  <a:schemeClr val="tx1"/>
                </a:solidFill>
              </a:rPr>
              <a:t>The gap in revenue comes from the number of male customers, not how much each person spends. Read with care: every subscriber and discount user in this data is male (see Limitations).</a:t>
            </a:r>
            <a:endParaRPr lang="en-US" sz="1300" dirty="0"/>
          </a:p>
        </p:txBody>
      </p:sp>
      <p:sp>
        <p:nvSpPr>
          <p:cNvPr id="8" name="Shape 5"/>
          <p:cNvSpPr/>
          <p:nvPr/>
        </p:nvSpPr>
        <p:spPr>
          <a:xfrm>
            <a:off x="5577840" y="1691640"/>
            <a:ext cx="2926080" cy="4389120"/>
          </a:xfrm>
          <a:prstGeom prst="roundRect">
            <a:avLst>
              <a:gd name="adj" fmla="val 2500"/>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9" name="Text 6"/>
          <p:cNvSpPr txBox="1"/>
          <p:nvPr/>
        </p:nvSpPr>
        <p:spPr>
          <a:xfrm>
            <a:off x="5852160" y="1920240"/>
            <a:ext cx="2377440" cy="411480"/>
          </a:xfrm>
          <a:prstGeom prst="rect">
            <a:avLst/>
          </a:prstGeom>
          <a:noFill/>
          <a:ln/>
        </p:spPr>
        <p:txBody>
          <a:bodyPr wrap="square" lIns="0" tIns="0" rIns="0" bIns="0" rtlCol="0" anchor="t"/>
          <a:lstStyle/>
          <a:p>
            <a:pPr indent="0" marL="0">
              <a:buNone/>
            </a:pPr>
            <a:r>
              <a:rPr lang="en-US" sz="2000" b="1" dirty="0">
                <a:solidFill>
                  <a:schemeClr val="accent1"/>
                </a:solidFill>
              </a:rPr>
              <a:t>Male</a:t>
            </a:r>
            <a:endParaRPr lang="en-US" sz="2000" dirty="0"/>
          </a:p>
        </p:txBody>
      </p:sp>
      <p:sp>
        <p:nvSpPr>
          <p:cNvPr id="10" name="Text 7"/>
          <p:cNvSpPr txBox="1"/>
          <p:nvPr/>
        </p:nvSpPr>
        <p:spPr>
          <a:xfrm>
            <a:off x="5852160" y="2697480"/>
            <a:ext cx="2377440" cy="274320"/>
          </a:xfrm>
          <a:prstGeom prst="rect">
            <a:avLst/>
          </a:prstGeom>
          <a:noFill/>
          <a:ln/>
        </p:spPr>
        <p:txBody>
          <a:bodyPr wrap="square" lIns="0" tIns="0" rIns="0" bIns="0" rtlCol="0" anchor="t"/>
          <a:lstStyle/>
          <a:p>
            <a:pPr indent="0" marL="0">
              <a:buNone/>
            </a:pPr>
            <a:r>
              <a:rPr lang="en-US" sz="1300" dirty="0">
                <a:solidFill>
                  <a:schemeClr val="accent3"/>
                </a:solidFill>
              </a:rPr>
              <a:t>Revenue</a:t>
            </a:r>
            <a:endParaRPr lang="en-US" sz="1300" dirty="0"/>
          </a:p>
        </p:txBody>
      </p:sp>
      <p:sp>
        <p:nvSpPr>
          <p:cNvPr id="11" name="Text 8"/>
          <p:cNvSpPr txBox="1"/>
          <p:nvPr/>
        </p:nvSpPr>
        <p:spPr>
          <a:xfrm>
            <a:off x="5852160" y="2990088"/>
            <a:ext cx="2377440" cy="502920"/>
          </a:xfrm>
          <a:prstGeom prst="rect">
            <a:avLst/>
          </a:prstGeom>
          <a:noFill/>
          <a:ln/>
        </p:spPr>
        <p:txBody>
          <a:bodyPr wrap="square" lIns="0" tIns="0" rIns="0" bIns="0" rtlCol="0" anchor="t"/>
          <a:lstStyle/>
          <a:p>
            <a:pPr indent="0" marL="0">
              <a:buNone/>
            </a:pPr>
            <a:r>
              <a:rPr lang="en-US" sz="2800" b="1" dirty="0">
                <a:solidFill>
                  <a:schemeClr val="tx2"/>
                </a:solidFill>
              </a:rPr>
              <a:t>$157,890</a:t>
            </a:r>
            <a:endParaRPr lang="en-US" sz="2800" dirty="0"/>
          </a:p>
        </p:txBody>
      </p:sp>
      <p:sp>
        <p:nvSpPr>
          <p:cNvPr id="12" name="Text 9"/>
          <p:cNvSpPr txBox="1"/>
          <p:nvPr/>
        </p:nvSpPr>
        <p:spPr>
          <a:xfrm>
            <a:off x="5852160" y="3794760"/>
            <a:ext cx="2377440" cy="274320"/>
          </a:xfrm>
          <a:prstGeom prst="rect">
            <a:avLst/>
          </a:prstGeom>
          <a:noFill/>
          <a:ln/>
        </p:spPr>
        <p:txBody>
          <a:bodyPr wrap="square" lIns="0" tIns="0" rIns="0" bIns="0" rtlCol="0" anchor="t"/>
          <a:lstStyle/>
          <a:p>
            <a:pPr indent="0" marL="0">
              <a:buNone/>
            </a:pPr>
            <a:r>
              <a:rPr lang="en-US" sz="1300" dirty="0">
                <a:solidFill>
                  <a:schemeClr val="accent3"/>
                </a:solidFill>
              </a:rPr>
              <a:t>Purchases</a:t>
            </a:r>
            <a:endParaRPr lang="en-US" sz="1300" dirty="0"/>
          </a:p>
        </p:txBody>
      </p:sp>
      <p:sp>
        <p:nvSpPr>
          <p:cNvPr id="13" name="Text 10"/>
          <p:cNvSpPr txBox="1"/>
          <p:nvPr/>
        </p:nvSpPr>
        <p:spPr>
          <a:xfrm>
            <a:off x="5852160" y="4087368"/>
            <a:ext cx="2377440" cy="502920"/>
          </a:xfrm>
          <a:prstGeom prst="rect">
            <a:avLst/>
          </a:prstGeom>
          <a:noFill/>
          <a:ln/>
        </p:spPr>
        <p:txBody>
          <a:bodyPr wrap="square" lIns="0" tIns="0" rIns="0" bIns="0" rtlCol="0" anchor="t"/>
          <a:lstStyle/>
          <a:p>
            <a:pPr indent="0" marL="0">
              <a:buNone/>
            </a:pPr>
            <a:r>
              <a:rPr lang="en-US" sz="2800" b="1" dirty="0">
                <a:solidFill>
                  <a:schemeClr val="tx2"/>
                </a:solidFill>
              </a:rPr>
              <a:t>2,652</a:t>
            </a:r>
            <a:endParaRPr lang="en-US" sz="2800" dirty="0"/>
          </a:p>
        </p:txBody>
      </p:sp>
      <p:sp>
        <p:nvSpPr>
          <p:cNvPr id="14" name="Text 11"/>
          <p:cNvSpPr txBox="1"/>
          <p:nvPr/>
        </p:nvSpPr>
        <p:spPr>
          <a:xfrm>
            <a:off x="5852160" y="4892040"/>
            <a:ext cx="2377440" cy="274320"/>
          </a:xfrm>
          <a:prstGeom prst="rect">
            <a:avLst/>
          </a:prstGeom>
          <a:noFill/>
          <a:ln/>
        </p:spPr>
        <p:txBody>
          <a:bodyPr wrap="square" lIns="0" tIns="0" rIns="0" bIns="0" rtlCol="0" anchor="t"/>
          <a:lstStyle/>
          <a:p>
            <a:pPr indent="0" marL="0">
              <a:buNone/>
            </a:pPr>
            <a:r>
              <a:rPr lang="en-US" sz="1300" dirty="0">
                <a:solidFill>
                  <a:schemeClr val="accent3"/>
                </a:solidFill>
              </a:rPr>
              <a:t>Avg per purchase</a:t>
            </a:r>
            <a:endParaRPr lang="en-US" sz="1300" dirty="0"/>
          </a:p>
        </p:txBody>
      </p:sp>
      <p:sp>
        <p:nvSpPr>
          <p:cNvPr id="15" name="Text 12"/>
          <p:cNvSpPr txBox="1"/>
          <p:nvPr/>
        </p:nvSpPr>
        <p:spPr>
          <a:xfrm>
            <a:off x="5852160" y="5184648"/>
            <a:ext cx="2377440" cy="502920"/>
          </a:xfrm>
          <a:prstGeom prst="rect">
            <a:avLst/>
          </a:prstGeom>
          <a:noFill/>
          <a:ln/>
        </p:spPr>
        <p:txBody>
          <a:bodyPr wrap="square" lIns="0" tIns="0" rIns="0" bIns="0" rtlCol="0" anchor="t"/>
          <a:lstStyle/>
          <a:p>
            <a:pPr indent="0" marL="0">
              <a:buNone/>
            </a:pPr>
            <a:r>
              <a:rPr lang="en-US" sz="2800" b="1" dirty="0">
                <a:solidFill>
                  <a:schemeClr val="tx2"/>
                </a:solidFill>
              </a:rPr>
              <a:t>$59.54</a:t>
            </a:r>
            <a:endParaRPr lang="en-US" sz="2800" dirty="0"/>
          </a:p>
        </p:txBody>
      </p:sp>
      <p:sp>
        <p:nvSpPr>
          <p:cNvPr id="16" name="Shape 13"/>
          <p:cNvSpPr/>
          <p:nvPr/>
        </p:nvSpPr>
        <p:spPr>
          <a:xfrm>
            <a:off x="8659368" y="1691640"/>
            <a:ext cx="2926080" cy="4389120"/>
          </a:xfrm>
          <a:prstGeom prst="roundRect">
            <a:avLst>
              <a:gd name="adj" fmla="val 2500"/>
            </a:avLst>
          </a:prstGeom>
          <a:solidFill>
            <a:schemeClr val="accent1"/>
          </a:solidFill>
          <a:ln w="9525">
            <a:solidFill>
              <a:srgbClr val="1C3FD6"/>
            </a:solidFill>
            <a:prstDash val="solid"/>
          </a:ln>
          <a:effectLst>
            <a:outerShdw sx="100000" sy="100000" kx="0" ky="0" algn="bl" rotWithShape="0" blurRad="101600" dist="25400" dir="5400000">
              <a:srgbClr val="0E1F6E">
                <a:alpha val="12000"/>
              </a:srgbClr>
            </a:outerShdw>
          </a:effectLst>
        </p:spPr>
      </p:sp>
      <p:sp>
        <p:nvSpPr>
          <p:cNvPr id="17" name="Text 14"/>
          <p:cNvSpPr txBox="1"/>
          <p:nvPr/>
        </p:nvSpPr>
        <p:spPr>
          <a:xfrm>
            <a:off x="8933688" y="1920240"/>
            <a:ext cx="2377440" cy="411480"/>
          </a:xfrm>
          <a:prstGeom prst="rect">
            <a:avLst/>
          </a:prstGeom>
          <a:noFill/>
          <a:ln/>
        </p:spPr>
        <p:txBody>
          <a:bodyPr wrap="square" lIns="0" tIns="0" rIns="0" bIns="0" rtlCol="0" anchor="t"/>
          <a:lstStyle/>
          <a:p>
            <a:pPr indent="0" marL="0">
              <a:buNone/>
            </a:pPr>
            <a:r>
              <a:rPr lang="en-US" sz="2000" b="1" dirty="0">
                <a:solidFill>
                  <a:schemeClr val="bg1"/>
                </a:solidFill>
              </a:rPr>
              <a:t>Female</a:t>
            </a:r>
            <a:endParaRPr lang="en-US" sz="2000" dirty="0"/>
          </a:p>
        </p:txBody>
      </p:sp>
      <p:sp>
        <p:nvSpPr>
          <p:cNvPr id="18" name="Text 15"/>
          <p:cNvSpPr txBox="1"/>
          <p:nvPr/>
        </p:nvSpPr>
        <p:spPr>
          <a:xfrm>
            <a:off x="8933688" y="2697480"/>
            <a:ext cx="2377440" cy="274320"/>
          </a:xfrm>
          <a:prstGeom prst="rect">
            <a:avLst/>
          </a:prstGeom>
          <a:noFill/>
          <a:ln/>
        </p:spPr>
        <p:txBody>
          <a:bodyPr wrap="square" lIns="0" tIns="0" rIns="0" bIns="0" rtlCol="0" anchor="t"/>
          <a:lstStyle/>
          <a:p>
            <a:pPr indent="0" marL="0">
              <a:buNone/>
            </a:pPr>
            <a:r>
              <a:rPr lang="en-US" sz="1300" dirty="0">
                <a:solidFill>
                  <a:schemeClr val="bg1"/>
                </a:solidFill>
              </a:rPr>
              <a:t>Revenue</a:t>
            </a:r>
            <a:endParaRPr lang="en-US" sz="1300" dirty="0"/>
          </a:p>
        </p:txBody>
      </p:sp>
      <p:sp>
        <p:nvSpPr>
          <p:cNvPr id="19" name="Text 16"/>
          <p:cNvSpPr txBox="1"/>
          <p:nvPr/>
        </p:nvSpPr>
        <p:spPr>
          <a:xfrm>
            <a:off x="8933688" y="2990088"/>
            <a:ext cx="2377440" cy="502920"/>
          </a:xfrm>
          <a:prstGeom prst="rect">
            <a:avLst/>
          </a:prstGeom>
          <a:noFill/>
          <a:ln/>
        </p:spPr>
        <p:txBody>
          <a:bodyPr wrap="square" lIns="0" tIns="0" rIns="0" bIns="0" rtlCol="0" anchor="t"/>
          <a:lstStyle/>
          <a:p>
            <a:pPr indent="0" marL="0">
              <a:buNone/>
            </a:pPr>
            <a:r>
              <a:rPr lang="en-US" sz="2800" b="1" dirty="0">
                <a:solidFill>
                  <a:schemeClr val="bg1"/>
                </a:solidFill>
              </a:rPr>
              <a:t>$75,191</a:t>
            </a:r>
            <a:endParaRPr lang="en-US" sz="2800" dirty="0"/>
          </a:p>
        </p:txBody>
      </p:sp>
      <p:sp>
        <p:nvSpPr>
          <p:cNvPr id="20" name="Text 17"/>
          <p:cNvSpPr txBox="1"/>
          <p:nvPr/>
        </p:nvSpPr>
        <p:spPr>
          <a:xfrm>
            <a:off x="8933688" y="3794760"/>
            <a:ext cx="2377440" cy="274320"/>
          </a:xfrm>
          <a:prstGeom prst="rect">
            <a:avLst/>
          </a:prstGeom>
          <a:noFill/>
          <a:ln/>
        </p:spPr>
        <p:txBody>
          <a:bodyPr wrap="square" lIns="0" tIns="0" rIns="0" bIns="0" rtlCol="0" anchor="t"/>
          <a:lstStyle/>
          <a:p>
            <a:pPr indent="0" marL="0">
              <a:buNone/>
            </a:pPr>
            <a:r>
              <a:rPr lang="en-US" sz="1300" dirty="0">
                <a:solidFill>
                  <a:schemeClr val="bg1"/>
                </a:solidFill>
              </a:rPr>
              <a:t>Purchases</a:t>
            </a:r>
            <a:endParaRPr lang="en-US" sz="1300" dirty="0"/>
          </a:p>
        </p:txBody>
      </p:sp>
      <p:sp>
        <p:nvSpPr>
          <p:cNvPr id="21" name="Text 18"/>
          <p:cNvSpPr txBox="1"/>
          <p:nvPr/>
        </p:nvSpPr>
        <p:spPr>
          <a:xfrm>
            <a:off x="8933688" y="4087368"/>
            <a:ext cx="2377440" cy="502920"/>
          </a:xfrm>
          <a:prstGeom prst="rect">
            <a:avLst/>
          </a:prstGeom>
          <a:noFill/>
          <a:ln/>
        </p:spPr>
        <p:txBody>
          <a:bodyPr wrap="square" lIns="0" tIns="0" rIns="0" bIns="0" rtlCol="0" anchor="t"/>
          <a:lstStyle/>
          <a:p>
            <a:pPr indent="0" marL="0">
              <a:buNone/>
            </a:pPr>
            <a:r>
              <a:rPr lang="en-US" sz="2800" b="1" dirty="0">
                <a:solidFill>
                  <a:schemeClr val="bg1"/>
                </a:solidFill>
              </a:rPr>
              <a:t>1,248</a:t>
            </a:r>
            <a:endParaRPr lang="en-US" sz="2800" dirty="0"/>
          </a:p>
        </p:txBody>
      </p:sp>
      <p:sp>
        <p:nvSpPr>
          <p:cNvPr id="22" name="Text 19"/>
          <p:cNvSpPr txBox="1"/>
          <p:nvPr/>
        </p:nvSpPr>
        <p:spPr>
          <a:xfrm>
            <a:off x="8933688" y="4892040"/>
            <a:ext cx="2377440" cy="274320"/>
          </a:xfrm>
          <a:prstGeom prst="rect">
            <a:avLst/>
          </a:prstGeom>
          <a:noFill/>
          <a:ln/>
        </p:spPr>
        <p:txBody>
          <a:bodyPr wrap="square" lIns="0" tIns="0" rIns="0" bIns="0" rtlCol="0" anchor="t"/>
          <a:lstStyle/>
          <a:p>
            <a:pPr indent="0" marL="0">
              <a:buNone/>
            </a:pPr>
            <a:r>
              <a:rPr lang="en-US" sz="1300" dirty="0">
                <a:solidFill>
                  <a:schemeClr val="bg1"/>
                </a:solidFill>
              </a:rPr>
              <a:t>Avg per purchase</a:t>
            </a:r>
            <a:endParaRPr lang="en-US" sz="1300" dirty="0"/>
          </a:p>
        </p:txBody>
      </p:sp>
      <p:sp>
        <p:nvSpPr>
          <p:cNvPr id="23" name="Text 20"/>
          <p:cNvSpPr txBox="1"/>
          <p:nvPr/>
        </p:nvSpPr>
        <p:spPr>
          <a:xfrm>
            <a:off x="8933688" y="5184648"/>
            <a:ext cx="2377440" cy="502920"/>
          </a:xfrm>
          <a:prstGeom prst="rect">
            <a:avLst/>
          </a:prstGeom>
          <a:noFill/>
          <a:ln/>
        </p:spPr>
        <p:txBody>
          <a:bodyPr wrap="square" lIns="0" tIns="0" rIns="0" bIns="0" rtlCol="0" anchor="t"/>
          <a:lstStyle/>
          <a:p>
            <a:pPr indent="0" marL="0">
              <a:buNone/>
            </a:pPr>
            <a:r>
              <a:rPr lang="en-US" sz="2800" b="1" dirty="0">
                <a:solidFill>
                  <a:schemeClr val="bg1"/>
                </a:solidFill>
              </a:rPr>
              <a:t>$60.25</a:t>
            </a:r>
            <a:endParaRPr lang="en-US" sz="28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The subscription program isn't working</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Q5 &amp; Q9  ·  Subscribers don't spend more, and frequent buyers aren't any more likely to sign up.</a:t>
            </a:r>
            <a:endParaRPr lang="en-US" sz="1600" dirty="0"/>
          </a:p>
        </p:txBody>
      </p:sp>
      <p:sp>
        <p:nvSpPr>
          <p:cNvPr id="4" name="Shape 2"/>
          <p:cNvSpPr/>
          <p:nvPr/>
        </p:nvSpPr>
        <p:spPr>
          <a:xfrm>
            <a:off x="512064" y="1837944"/>
            <a:ext cx="4279392" cy="2765146"/>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Power BI visual: % of customers by subscription status, Yes 27%, No 73%">    </p:cNvPr>
          <p:cNvPicPr>
            <a:picLocks noChangeAspect="1"/>
          </p:cNvPicPr>
          <p:nvPr/>
        </p:nvPicPr>
        <p:blipFill>
          <a:blip r:embed="rId1"/>
          <a:stretch>
            <a:fillRect/>
          </a:stretch>
        </p:blipFill>
        <p:spPr>
          <a:xfrm>
            <a:off x="548640" y="1874520"/>
            <a:ext cx="4206240" cy="2691994"/>
          </a:xfrm>
          <a:prstGeom prst="rect">
            <a:avLst/>
          </a:prstGeom>
        </p:spPr>
      </p:pic>
      <p:sp>
        <p:nvSpPr>
          <p:cNvPr id="6" name="Text 3"/>
          <p:cNvSpPr txBox="1"/>
          <p:nvPr/>
        </p:nvSpPr>
        <p:spPr>
          <a:xfrm>
            <a:off x="548640" y="4983480"/>
            <a:ext cx="4206240" cy="502920"/>
          </a:xfrm>
          <a:prstGeom prst="rect">
            <a:avLst/>
          </a:prstGeom>
          <a:noFill/>
          <a:ln/>
        </p:spPr>
        <p:txBody>
          <a:bodyPr wrap="square" lIns="0" tIns="0" rIns="0" bIns="0" rtlCol="0" anchor="t"/>
          <a:lstStyle/>
          <a:p>
            <a:pPr indent="0" marL="0">
              <a:buNone/>
            </a:pPr>
            <a:r>
              <a:rPr lang="en-US" sz="1300" dirty="0">
                <a:solidFill>
                  <a:schemeClr val="accent3"/>
                </a:solidFill>
              </a:rPr>
              <a:t>From the Power BI dashboard: 27% of 3.9K customers subscribe.</a:t>
            </a:r>
            <a:endParaRPr lang="en-US" sz="1300" dirty="0"/>
          </a:p>
        </p:txBody>
      </p:sp>
      <p:sp>
        <p:nvSpPr>
          <p:cNvPr id="7" name="Shape 4"/>
          <p:cNvSpPr/>
          <p:nvPr/>
        </p:nvSpPr>
        <p:spPr>
          <a:xfrm>
            <a:off x="5029200" y="1691640"/>
            <a:ext cx="6611112" cy="1417320"/>
          </a:xfrm>
          <a:prstGeom prst="roundRect">
            <a:avLst>
              <a:gd name="adj" fmla="val 5161"/>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8" name="Text 5"/>
          <p:cNvSpPr txBox="1"/>
          <p:nvPr/>
        </p:nvSpPr>
        <p:spPr>
          <a:xfrm>
            <a:off x="5303520" y="1828800"/>
            <a:ext cx="3657600" cy="320040"/>
          </a:xfrm>
          <a:prstGeom prst="rect">
            <a:avLst/>
          </a:prstGeom>
          <a:noFill/>
          <a:ln/>
        </p:spPr>
        <p:txBody>
          <a:bodyPr wrap="square" lIns="0" tIns="0" rIns="0" bIns="0" rtlCol="0" anchor="t"/>
          <a:lstStyle/>
          <a:p>
            <a:pPr indent="0" marL="0">
              <a:buNone/>
            </a:pPr>
            <a:r>
              <a:rPr lang="en-US" sz="1400" b="1" dirty="0">
                <a:solidFill>
                  <a:schemeClr val="tx2"/>
                </a:solidFill>
              </a:rPr>
              <a:t>Average spend per purchase</a:t>
            </a:r>
            <a:endParaRPr lang="en-US" sz="1400" dirty="0"/>
          </a:p>
        </p:txBody>
      </p:sp>
      <p:sp>
        <p:nvSpPr>
          <p:cNvPr id="9" name="Text 6"/>
          <p:cNvSpPr txBox="1"/>
          <p:nvPr/>
        </p:nvSpPr>
        <p:spPr>
          <a:xfrm>
            <a:off x="5303520" y="2240280"/>
            <a:ext cx="3108960" cy="640080"/>
          </a:xfrm>
          <a:prstGeom prst="rect">
            <a:avLst/>
          </a:prstGeom>
          <a:noFill/>
          <a:ln/>
        </p:spPr>
        <p:txBody>
          <a:bodyPr wrap="square" lIns="0" tIns="0" rIns="0" bIns="0" rtlCol="0" anchor="t"/>
          <a:lstStyle/>
          <a:p>
            <a:pPr indent="0" marL="0">
              <a:buNone/>
            </a:pPr>
            <a:r>
              <a:rPr lang="en-US" sz="3000" b="1" dirty="0">
                <a:solidFill>
                  <a:schemeClr val="accent1"/>
                </a:solidFill>
              </a:rPr>
              <a:t>$59.49</a:t>
            </a:r>
            <a:pPr indent="0" marL="0">
              <a:buNone/>
            </a:pPr>
            <a:r>
              <a:rPr lang="en-US" sz="1300" dirty="0">
                <a:solidFill>
                  <a:schemeClr val="accent3"/>
                </a:solidFill>
              </a:rPr>
              <a:t>  subscribers</a:t>
            </a:r>
            <a:endParaRPr lang="en-US" sz="1400" dirty="0"/>
          </a:p>
        </p:txBody>
      </p:sp>
      <p:sp>
        <p:nvSpPr>
          <p:cNvPr id="10" name="Text 7"/>
          <p:cNvSpPr txBox="1"/>
          <p:nvPr/>
        </p:nvSpPr>
        <p:spPr>
          <a:xfrm>
            <a:off x="8458200" y="2240280"/>
            <a:ext cx="3108960" cy="640080"/>
          </a:xfrm>
          <a:prstGeom prst="rect">
            <a:avLst/>
          </a:prstGeom>
          <a:noFill/>
          <a:ln/>
        </p:spPr>
        <p:txBody>
          <a:bodyPr wrap="square" lIns="0" tIns="0" rIns="0" bIns="0" rtlCol="0" anchor="t"/>
          <a:lstStyle/>
          <a:p>
            <a:pPr indent="0" marL="0">
              <a:buNone/>
            </a:pPr>
            <a:r>
              <a:rPr lang="en-US" sz="3000" b="1" dirty="0">
                <a:solidFill>
                  <a:schemeClr val="tx2"/>
                </a:solidFill>
              </a:rPr>
              <a:t>$59.87</a:t>
            </a:r>
            <a:pPr indent="0" marL="0">
              <a:buNone/>
            </a:pPr>
            <a:r>
              <a:rPr lang="en-US" sz="1300" dirty="0">
                <a:solidFill>
                  <a:schemeClr val="accent3"/>
                </a:solidFill>
              </a:rPr>
              <a:t>  everyone else</a:t>
            </a:r>
            <a:endParaRPr lang="en-US" sz="1400" dirty="0"/>
          </a:p>
        </p:txBody>
      </p:sp>
      <p:sp>
        <p:nvSpPr>
          <p:cNvPr id="11" name="Shape 8"/>
          <p:cNvSpPr/>
          <p:nvPr/>
        </p:nvSpPr>
        <p:spPr>
          <a:xfrm>
            <a:off x="5029200" y="3291840"/>
            <a:ext cx="6611112" cy="1417320"/>
          </a:xfrm>
          <a:prstGeom prst="roundRect">
            <a:avLst>
              <a:gd name="adj" fmla="val 5161"/>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2" name="Text 9"/>
          <p:cNvSpPr txBox="1"/>
          <p:nvPr/>
        </p:nvSpPr>
        <p:spPr>
          <a:xfrm>
            <a:off x="5303520" y="3429000"/>
            <a:ext cx="3657600" cy="320040"/>
          </a:xfrm>
          <a:prstGeom prst="rect">
            <a:avLst/>
          </a:prstGeom>
          <a:noFill/>
          <a:ln/>
        </p:spPr>
        <p:txBody>
          <a:bodyPr wrap="square" lIns="0" tIns="0" rIns="0" bIns="0" rtlCol="0" anchor="t"/>
          <a:lstStyle/>
          <a:p>
            <a:pPr indent="0" marL="0">
              <a:buNone/>
            </a:pPr>
            <a:r>
              <a:rPr lang="en-US" sz="1400" b="1" dirty="0">
                <a:solidFill>
                  <a:schemeClr val="tx2"/>
                </a:solidFill>
              </a:rPr>
              <a:t>Share who subscribe</a:t>
            </a:r>
            <a:endParaRPr lang="en-US" sz="1400" dirty="0"/>
          </a:p>
        </p:txBody>
      </p:sp>
      <p:sp>
        <p:nvSpPr>
          <p:cNvPr id="13" name="Text 10"/>
          <p:cNvSpPr txBox="1"/>
          <p:nvPr/>
        </p:nvSpPr>
        <p:spPr>
          <a:xfrm>
            <a:off x="5303520" y="3840480"/>
            <a:ext cx="3108960" cy="640080"/>
          </a:xfrm>
          <a:prstGeom prst="rect">
            <a:avLst/>
          </a:prstGeom>
          <a:noFill/>
          <a:ln/>
        </p:spPr>
        <p:txBody>
          <a:bodyPr wrap="square" lIns="0" tIns="0" rIns="0" bIns="0" rtlCol="0" anchor="t"/>
          <a:lstStyle/>
          <a:p>
            <a:pPr indent="0" marL="0">
              <a:buNone/>
            </a:pPr>
            <a:r>
              <a:rPr lang="en-US" sz="3000" b="1" dirty="0">
                <a:solidFill>
                  <a:schemeClr val="tx2"/>
                </a:solidFill>
              </a:rPr>
              <a:t>27.0%</a:t>
            </a:r>
            <a:pPr indent="0" marL="0">
              <a:buNone/>
            </a:pPr>
            <a:r>
              <a:rPr lang="en-US" sz="1300" dirty="0">
                <a:solidFill>
                  <a:schemeClr val="accent3"/>
                </a:solidFill>
              </a:rPr>
              <a:t>  all customers</a:t>
            </a:r>
            <a:endParaRPr lang="en-US" sz="1400" dirty="0"/>
          </a:p>
        </p:txBody>
      </p:sp>
      <p:sp>
        <p:nvSpPr>
          <p:cNvPr id="14" name="Text 11"/>
          <p:cNvSpPr txBox="1"/>
          <p:nvPr/>
        </p:nvSpPr>
        <p:spPr>
          <a:xfrm>
            <a:off x="8458200" y="3840480"/>
            <a:ext cx="3154680" cy="640080"/>
          </a:xfrm>
          <a:prstGeom prst="rect">
            <a:avLst/>
          </a:prstGeom>
          <a:noFill/>
          <a:ln/>
        </p:spPr>
        <p:txBody>
          <a:bodyPr wrap="square" lIns="0" tIns="0" rIns="0" bIns="0" rtlCol="0" anchor="t"/>
          <a:lstStyle/>
          <a:p>
            <a:pPr indent="0" marL="0">
              <a:buNone/>
            </a:pPr>
            <a:r>
              <a:rPr lang="en-US" sz="3000" b="1" dirty="0">
                <a:solidFill>
                  <a:schemeClr val="accent1"/>
                </a:solidFill>
              </a:rPr>
              <a:t>27.6%</a:t>
            </a:r>
            <a:pPr indent="0" marL="0">
              <a:buNone/>
            </a:pPr>
            <a:r>
              <a:rPr lang="en-US" sz="1300" dirty="0">
                <a:solidFill>
                  <a:schemeClr val="accent3"/>
                </a:solidFill>
              </a:rPr>
              <a:t>  repeat buyers (&gt;5)</a:t>
            </a:r>
            <a:endParaRPr lang="en-US" sz="1400" dirty="0"/>
          </a:p>
        </p:txBody>
      </p:sp>
      <p:sp>
        <p:nvSpPr>
          <p:cNvPr id="15" name="Shape 12"/>
          <p:cNvSpPr/>
          <p:nvPr/>
        </p:nvSpPr>
        <p:spPr>
          <a:xfrm>
            <a:off x="5029200" y="4892040"/>
            <a:ext cx="6611112" cy="1188720"/>
          </a:xfrm>
          <a:prstGeom prst="roundRect">
            <a:avLst>
              <a:gd name="adj" fmla="val 6154"/>
            </a:avLst>
          </a:prstGeom>
          <a:solidFill>
            <a:schemeClr val="accent1"/>
          </a:solidFill>
          <a:ln w="12700">
            <a:solidFill>
              <a:schemeClr val="accent1"/>
            </a:solidFill>
            <a:prstDash val="solid"/>
          </a:ln>
        </p:spPr>
      </p:sp>
      <p:sp>
        <p:nvSpPr>
          <p:cNvPr id="16" name="Text 13"/>
          <p:cNvSpPr txBox="1"/>
          <p:nvPr/>
        </p:nvSpPr>
        <p:spPr>
          <a:xfrm>
            <a:off x="5303520" y="4983480"/>
            <a:ext cx="6126480" cy="1005840"/>
          </a:xfrm>
          <a:prstGeom prst="rect">
            <a:avLst/>
          </a:prstGeom>
          <a:noFill/>
          <a:ln/>
        </p:spPr>
        <p:txBody>
          <a:bodyPr wrap="square" lIns="0" tIns="0" rIns="0" bIns="0" rtlCol="0" anchor="ctr"/>
          <a:lstStyle/>
          <a:p>
            <a:pPr indent="0" marL="0">
              <a:buNone/>
            </a:pPr>
            <a:r>
              <a:rPr lang="en-US" sz="3000" b="1" dirty="0">
                <a:solidFill>
                  <a:schemeClr val="bg1"/>
                </a:solidFill>
              </a:rPr>
              <a:t>2,518</a:t>
            </a:r>
            <a:pPr indent="0" marL="0">
              <a:buNone/>
            </a:pPr>
            <a:r>
              <a:rPr lang="en-US" sz="1400" dirty="0">
                <a:solidFill>
                  <a:schemeClr val="bg1"/>
                </a:solidFill>
              </a:rPr>
              <a:t>   repeat buyers haven't subscribed. They are the program's most obvious audience, and right now it gives them no reason to join.</a:t>
            </a:r>
            <a:endParaRPr lang="en-US" sz="14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Some items may only sell on discount</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Q2 &amp; Q6  ·  About half of Hat and Sneakers sales use a discount, against 43% store-wide.</a:t>
            </a:r>
            <a:endParaRPr lang="en-US" sz="1600" dirty="0"/>
          </a:p>
        </p:txBody>
      </p:sp>
      <p:sp>
        <p:nvSpPr>
          <p:cNvPr id="4" name="Shape 2"/>
          <p:cNvSpPr/>
          <p:nvPr/>
        </p:nvSpPr>
        <p:spPr>
          <a:xfrm>
            <a:off x="512064" y="1655064"/>
            <a:ext cx="5815926" cy="4462272"/>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Q6 query and result: Hat 50.0, Sneakers 49.7, Coat 49.1, Sweater 48.2, Pants 47.4">    </p:cNvPr>
          <p:cNvPicPr>
            <a:picLocks noChangeAspect="1"/>
          </p:cNvPicPr>
          <p:nvPr/>
        </p:nvPicPr>
        <p:blipFill>
          <a:blip r:embed="rId1"/>
          <a:stretch>
            <a:fillRect/>
          </a:stretch>
        </p:blipFill>
        <p:spPr>
          <a:xfrm>
            <a:off x="548640" y="1691640"/>
            <a:ext cx="5742774" cy="4389120"/>
          </a:xfrm>
          <a:prstGeom prst="rect">
            <a:avLst/>
          </a:prstGeom>
        </p:spPr>
      </p:pic>
      <p:sp>
        <p:nvSpPr>
          <p:cNvPr id="6" name="Shape 3"/>
          <p:cNvSpPr/>
          <p:nvPr/>
        </p:nvSpPr>
        <p:spPr>
          <a:xfrm>
            <a:off x="6620598" y="1655064"/>
            <a:ext cx="5056290" cy="1684367"/>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7" name="Image 1" descr="Q2 query: discount users at or above average spend, 839 rows">    </p:cNvPr>
          <p:cNvPicPr>
            <a:picLocks noChangeAspect="1"/>
          </p:cNvPicPr>
          <p:nvPr/>
        </p:nvPicPr>
        <p:blipFill>
          <a:blip r:embed="rId2"/>
          <a:stretch>
            <a:fillRect/>
          </a:stretch>
        </p:blipFill>
        <p:spPr>
          <a:xfrm>
            <a:off x="6657174" y="1691640"/>
            <a:ext cx="4983138" cy="1611215"/>
          </a:xfrm>
          <a:prstGeom prst="rect">
            <a:avLst/>
          </a:prstGeom>
        </p:spPr>
      </p:pic>
      <p:sp>
        <p:nvSpPr>
          <p:cNvPr id="8" name="Shape 4"/>
          <p:cNvSpPr/>
          <p:nvPr/>
        </p:nvSpPr>
        <p:spPr>
          <a:xfrm>
            <a:off x="6657174" y="3577175"/>
            <a:ext cx="4983138" cy="1188720"/>
          </a:xfrm>
          <a:prstGeom prst="roundRect">
            <a:avLst>
              <a:gd name="adj" fmla="val 6154"/>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9" name="Text 5"/>
          <p:cNvSpPr txBox="1"/>
          <p:nvPr/>
        </p:nvSpPr>
        <p:spPr>
          <a:xfrm>
            <a:off x="6885774" y="3577175"/>
            <a:ext cx="1463040" cy="1188720"/>
          </a:xfrm>
          <a:prstGeom prst="rect">
            <a:avLst/>
          </a:prstGeom>
          <a:noFill/>
          <a:ln/>
        </p:spPr>
        <p:txBody>
          <a:bodyPr wrap="square" lIns="0" tIns="0" rIns="0" bIns="0" rtlCol="0" anchor="ctr"/>
          <a:lstStyle/>
          <a:p>
            <a:pPr indent="0" marL="0">
              <a:buNone/>
            </a:pPr>
            <a:r>
              <a:rPr lang="en-US" sz="3600" b="1" dirty="0">
                <a:solidFill>
                  <a:schemeClr val="accent1"/>
                </a:solidFill>
              </a:rPr>
              <a:t>839</a:t>
            </a:r>
            <a:endParaRPr lang="en-US" sz="3600" dirty="0"/>
          </a:p>
        </p:txBody>
      </p:sp>
      <p:sp>
        <p:nvSpPr>
          <p:cNvPr id="10" name="Text 6"/>
          <p:cNvSpPr txBox="1"/>
          <p:nvPr/>
        </p:nvSpPr>
        <p:spPr>
          <a:xfrm>
            <a:off x="8348814" y="3577175"/>
            <a:ext cx="3108618" cy="1188720"/>
          </a:xfrm>
          <a:prstGeom prst="rect">
            <a:avLst/>
          </a:prstGeom>
          <a:noFill/>
          <a:ln/>
        </p:spPr>
        <p:txBody>
          <a:bodyPr wrap="square" lIns="0" tIns="0" rIns="0" bIns="0" rtlCol="0" anchor="ctr"/>
          <a:lstStyle/>
          <a:p>
            <a:pPr indent="0" marL="0">
              <a:buNone/>
            </a:pPr>
            <a:r>
              <a:rPr lang="en-US" sz="1300" dirty="0">
                <a:solidFill>
                  <a:schemeClr val="tx1"/>
                </a:solidFill>
              </a:rPr>
              <a:t>of 1,677 discount users still spent at or above the $59.76 average. Discounts aren't only pulling in bargain hunters.</a:t>
            </a:r>
            <a:endParaRPr lang="en-US" sz="1300" dirty="0"/>
          </a:p>
        </p:txBody>
      </p:sp>
      <p:sp>
        <p:nvSpPr>
          <p:cNvPr id="11" name="Shape 7"/>
          <p:cNvSpPr/>
          <p:nvPr/>
        </p:nvSpPr>
        <p:spPr>
          <a:xfrm>
            <a:off x="6657174" y="4800600"/>
            <a:ext cx="4983138" cy="1280160"/>
          </a:xfrm>
          <a:prstGeom prst="roundRect">
            <a:avLst>
              <a:gd name="adj" fmla="val 5714"/>
            </a:avLst>
          </a:prstGeom>
          <a:solidFill>
            <a:schemeClr val="bg2"/>
          </a:solidFill>
          <a:ln w="9525">
            <a:solidFill>
              <a:srgbClr val="1C3FD6"/>
            </a:solidFill>
            <a:prstDash val="solid"/>
          </a:ln>
          <a:effectLst>
            <a:outerShdw sx="100000" sy="100000" kx="0" ky="0" algn="bl" rotWithShape="0" blurRad="101600" dist="25400" dir="5400000">
              <a:srgbClr val="0E1F6E">
                <a:alpha val="12000"/>
              </a:srgbClr>
            </a:outerShdw>
          </a:effectLst>
        </p:spPr>
      </p:sp>
      <p:sp>
        <p:nvSpPr>
          <p:cNvPr id="12" name="Text 8"/>
          <p:cNvSpPr txBox="1"/>
          <p:nvPr/>
        </p:nvSpPr>
        <p:spPr>
          <a:xfrm>
            <a:off x="6885774" y="4800600"/>
            <a:ext cx="4525938" cy="1280160"/>
          </a:xfrm>
          <a:prstGeom prst="rect">
            <a:avLst/>
          </a:prstGeom>
          <a:noFill/>
          <a:ln/>
        </p:spPr>
        <p:txBody>
          <a:bodyPr wrap="square" lIns="0" tIns="0" rIns="0" bIns="0" rtlCol="0" anchor="ctr"/>
          <a:lstStyle/>
          <a:p>
            <a:pPr indent="0" marL="0">
              <a:buNone/>
            </a:pPr>
            <a:r>
              <a:rPr lang="en-US" sz="1300" dirty="0">
                <a:solidFill>
                  <a:schemeClr val="tx1"/>
                </a:solidFill>
              </a:rPr>
              <a:t>If half these buyers would pay full price anyway, some of the discount on Hat, Sneakers and Coat is margin given away for nothing.</a:t>
            </a:r>
            <a:endParaRPr lang="en-US" sz="13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Products: ratings and best sellers</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Q3 &amp; Q8  ·  Ratings sit in a tight band. Even the lowest, Shirt (3.62), is only 0.24 behind Gloves.</a:t>
            </a:r>
            <a:endParaRPr lang="en-US" sz="1600" dirty="0"/>
          </a:p>
        </p:txBody>
      </p:sp>
      <p:sp>
        <p:nvSpPr>
          <p:cNvPr id="4" name="Shape 2"/>
          <p:cNvSpPr/>
          <p:nvPr/>
        </p:nvSpPr>
        <p:spPr>
          <a:xfrm>
            <a:off x="512064" y="1655064"/>
            <a:ext cx="4370832" cy="3803904"/>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Q3 query and result: Gloves 3.86, Sandals 3.84, Boots 3.82, Hat 3.80, Skirt 3.78">    </p:cNvPr>
          <p:cNvPicPr>
            <a:picLocks noChangeAspect="1"/>
          </p:cNvPicPr>
          <p:nvPr/>
        </p:nvPicPr>
        <p:blipFill>
          <a:blip r:embed="rId1"/>
          <a:stretch>
            <a:fillRect/>
          </a:stretch>
        </p:blipFill>
        <p:spPr>
          <a:xfrm>
            <a:off x="548640" y="1691640"/>
            <a:ext cx="4297680" cy="3730752"/>
          </a:xfrm>
          <a:prstGeom prst="rect">
            <a:avLst/>
          </a:prstGeom>
        </p:spPr>
      </p:pic>
      <p:sp>
        <p:nvSpPr>
          <p:cNvPr id="6" name="Shape 3"/>
          <p:cNvSpPr/>
          <p:nvPr/>
        </p:nvSpPr>
        <p:spPr>
          <a:xfrm>
            <a:off x="5084064" y="1655064"/>
            <a:ext cx="4112219" cy="4462272"/>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7" name="Image 1" descr="Q8 query and result: top 3 items per category by orders">    </p:cNvPr>
          <p:cNvPicPr>
            <a:picLocks noChangeAspect="1"/>
          </p:cNvPicPr>
          <p:nvPr/>
        </p:nvPicPr>
        <p:blipFill>
          <a:blip r:embed="rId2"/>
          <a:stretch>
            <a:fillRect/>
          </a:stretch>
        </p:blipFill>
        <p:spPr>
          <a:xfrm>
            <a:off x="5120640" y="1691640"/>
            <a:ext cx="4039067" cy="4389120"/>
          </a:xfrm>
          <a:prstGeom prst="rect">
            <a:avLst/>
          </a:prstGeom>
        </p:spPr>
      </p:pic>
      <p:sp>
        <p:nvSpPr>
          <p:cNvPr id="8" name="Shape 4"/>
          <p:cNvSpPr/>
          <p:nvPr/>
        </p:nvSpPr>
        <p:spPr>
          <a:xfrm>
            <a:off x="9479747" y="1691640"/>
            <a:ext cx="2160565" cy="2057400"/>
          </a:xfrm>
          <a:prstGeom prst="roundRect">
            <a:avLst>
              <a:gd name="adj" fmla="val 3556"/>
            </a:avLst>
          </a:prstGeom>
          <a:solidFill>
            <a:schemeClr val="bg2"/>
          </a:solidFill>
          <a:ln w="9525">
            <a:solidFill>
              <a:srgbClr val="1C3FD6"/>
            </a:solidFill>
            <a:prstDash val="solid"/>
          </a:ln>
          <a:effectLst>
            <a:outerShdw sx="100000" sy="100000" kx="0" ky="0" algn="bl" rotWithShape="0" blurRad="101600" dist="25400" dir="5400000">
              <a:srgbClr val="0E1F6E">
                <a:alpha val="12000"/>
              </a:srgbClr>
            </a:outerShdw>
          </a:effectLst>
        </p:spPr>
      </p:sp>
      <p:sp>
        <p:nvSpPr>
          <p:cNvPr id="9" name="Text 5"/>
          <p:cNvSpPr txBox="1"/>
          <p:nvPr/>
        </p:nvSpPr>
        <p:spPr>
          <a:xfrm>
            <a:off x="9662627" y="1828800"/>
            <a:ext cx="1794805" cy="1783080"/>
          </a:xfrm>
          <a:prstGeom prst="rect">
            <a:avLst/>
          </a:prstGeom>
          <a:noFill/>
          <a:ln/>
        </p:spPr>
        <p:txBody>
          <a:bodyPr wrap="square" lIns="0" tIns="0" rIns="0" bIns="0" rtlCol="0" anchor="t"/>
          <a:lstStyle/>
          <a:p>
            <a:pPr indent="0" marL="0">
              <a:buNone/>
            </a:pPr>
            <a:r>
              <a:rPr lang="en-US" sz="1200" b="1" dirty="0">
                <a:solidFill>
                  <a:schemeClr val="tx2"/>
                </a:solidFill>
              </a:rPr>
              <a:t>Outerwear</a:t>
            </a:r>
            <a:endParaRPr lang="en-US" sz="1200" dirty="0"/>
          </a:p>
          <a:p>
            <a:pPr indent="0" marL="0">
              <a:buNone/>
            </a:pPr>
            <a:r>
              <a:rPr lang="en-US" sz="1200" dirty="0">
                <a:solidFill>
                  <a:schemeClr val="tx1"/>
                </a:solidFill>
              </a:rPr>
              <a:t>Only two products, Jacket and Coat. That goes a long way to explaining why it's the smallest category.</a:t>
            </a:r>
            <a:endParaRPr lang="en-US" sz="1200" dirty="0"/>
          </a:p>
        </p:txBody>
      </p:sp>
      <p:sp>
        <p:nvSpPr>
          <p:cNvPr id="10" name="Shape 6"/>
          <p:cNvSpPr/>
          <p:nvPr/>
        </p:nvSpPr>
        <p:spPr>
          <a:xfrm>
            <a:off x="9479747" y="4023360"/>
            <a:ext cx="2160565" cy="2057400"/>
          </a:xfrm>
          <a:prstGeom prst="roundRect">
            <a:avLst>
              <a:gd name="adj" fmla="val 355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1" name="Text 7"/>
          <p:cNvSpPr txBox="1"/>
          <p:nvPr/>
        </p:nvSpPr>
        <p:spPr>
          <a:xfrm>
            <a:off x="9662627" y="4160520"/>
            <a:ext cx="1794805" cy="1783080"/>
          </a:xfrm>
          <a:prstGeom prst="rect">
            <a:avLst/>
          </a:prstGeom>
          <a:noFill/>
          <a:ln/>
        </p:spPr>
        <p:txBody>
          <a:bodyPr wrap="square" lIns="0" tIns="0" rIns="0" bIns="0" rtlCol="0" anchor="t"/>
          <a:lstStyle/>
          <a:p>
            <a:pPr indent="0" marL="0">
              <a:buNone/>
            </a:pPr>
            <a:r>
              <a:rPr lang="en-US" sz="1200" b="1" dirty="0">
                <a:solidFill>
                  <a:schemeClr val="tx2"/>
                </a:solidFill>
              </a:rPr>
              <a:t>Ties</a:t>
            </a:r>
            <a:endParaRPr lang="en-US" sz="1200" dirty="0"/>
          </a:p>
          <a:p>
            <a:pPr indent="0" marL="0">
              <a:buNone/>
            </a:pPr>
            <a:r>
              <a:rPr lang="en-US" sz="1200" dirty="0">
                <a:solidFill>
                  <a:schemeClr val="tx1"/>
                </a:solidFill>
              </a:rPr>
              <a:t>Blouse and Pants both have 171 orders. ROW_NUMBER breaks ties arbitrarily, so their order can change.</a:t>
            </a:r>
            <a:endParaRPr lang="en-US" sz="12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Shipping and customer loyalty</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Q4 &amp; Q7  ·  Express buyers spend a little more. Most customers are already loyal.</a:t>
            </a:r>
            <a:endParaRPr lang="en-US" sz="1600" dirty="0"/>
          </a:p>
        </p:txBody>
      </p:sp>
      <p:sp>
        <p:nvSpPr>
          <p:cNvPr id="4" name="Shape 2"/>
          <p:cNvSpPr/>
          <p:nvPr/>
        </p:nvSpPr>
        <p:spPr>
          <a:xfrm>
            <a:off x="512064" y="1655064"/>
            <a:ext cx="4941485" cy="3227832"/>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Q4 query and result: Express 60.48, Standard 58.46">    </p:cNvPr>
          <p:cNvPicPr>
            <a:picLocks noChangeAspect="1"/>
          </p:cNvPicPr>
          <p:nvPr/>
        </p:nvPicPr>
        <p:blipFill>
          <a:blip r:embed="rId1"/>
          <a:stretch>
            <a:fillRect/>
          </a:stretch>
        </p:blipFill>
        <p:spPr>
          <a:xfrm>
            <a:off x="548640" y="1691640"/>
            <a:ext cx="4868333" cy="3154680"/>
          </a:xfrm>
          <a:prstGeom prst="rect">
            <a:avLst/>
          </a:prstGeom>
        </p:spPr>
      </p:pic>
      <p:sp>
        <p:nvSpPr>
          <p:cNvPr id="6" name="Text 3"/>
          <p:cNvSpPr txBox="1"/>
          <p:nvPr/>
        </p:nvSpPr>
        <p:spPr>
          <a:xfrm>
            <a:off x="548640" y="5120640"/>
            <a:ext cx="1737360" cy="731520"/>
          </a:xfrm>
          <a:prstGeom prst="rect">
            <a:avLst/>
          </a:prstGeom>
          <a:noFill/>
          <a:ln/>
        </p:spPr>
        <p:txBody>
          <a:bodyPr wrap="square" lIns="0" tIns="0" rIns="0" bIns="0" rtlCol="0" anchor="ctr"/>
          <a:lstStyle/>
          <a:p>
            <a:pPr indent="0" marL="0">
              <a:buNone/>
            </a:pPr>
            <a:r>
              <a:rPr lang="en-US" sz="3200" b="1" dirty="0">
                <a:solidFill>
                  <a:schemeClr val="accent1"/>
                </a:solidFill>
              </a:rPr>
              <a:t>+$2.02</a:t>
            </a:r>
            <a:endParaRPr lang="en-US" sz="3200" dirty="0"/>
          </a:p>
        </p:txBody>
      </p:sp>
      <p:sp>
        <p:nvSpPr>
          <p:cNvPr id="7" name="Text 4"/>
          <p:cNvSpPr txBox="1"/>
          <p:nvPr/>
        </p:nvSpPr>
        <p:spPr>
          <a:xfrm>
            <a:off x="2331720" y="5120640"/>
            <a:ext cx="3566160" cy="731520"/>
          </a:xfrm>
          <a:prstGeom prst="rect">
            <a:avLst/>
          </a:prstGeom>
          <a:noFill/>
          <a:ln/>
        </p:spPr>
        <p:txBody>
          <a:bodyPr wrap="square" lIns="0" tIns="0" rIns="0" bIns="0" rtlCol="0" anchor="ctr"/>
          <a:lstStyle/>
          <a:p>
            <a:pPr indent="0" marL="0">
              <a:buNone/>
            </a:pPr>
            <a:r>
              <a:rPr lang="en-US" sz="1400" dirty="0">
                <a:solidFill>
                  <a:schemeClr val="accent3"/>
                </a:solidFill>
              </a:rPr>
              <a:t>more per order for Express (+3.4%). Real, but small.</a:t>
            </a:r>
            <a:endParaRPr lang="en-US" sz="1400" dirty="0"/>
          </a:p>
        </p:txBody>
      </p:sp>
      <p:sp>
        <p:nvSpPr>
          <p:cNvPr id="8" name="Shape 5"/>
          <p:cNvSpPr/>
          <p:nvPr/>
        </p:nvSpPr>
        <p:spPr>
          <a:xfrm>
            <a:off x="6208776" y="1655064"/>
            <a:ext cx="4354033" cy="3227832"/>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9" name="Image 1" descr="Q7 query and result: Loyal 3,116, Returning 784">    </p:cNvPr>
          <p:cNvPicPr>
            <a:picLocks noChangeAspect="1"/>
          </p:cNvPicPr>
          <p:nvPr/>
        </p:nvPicPr>
        <p:blipFill>
          <a:blip r:embed="rId2"/>
          <a:stretch>
            <a:fillRect/>
          </a:stretch>
        </p:blipFill>
        <p:spPr>
          <a:xfrm>
            <a:off x="6245352" y="1691640"/>
            <a:ext cx="4280881" cy="3154680"/>
          </a:xfrm>
          <a:prstGeom prst="rect">
            <a:avLst/>
          </a:prstGeom>
        </p:spPr>
      </p:pic>
      <p:sp>
        <p:nvSpPr>
          <p:cNvPr id="10" name="Text 6"/>
          <p:cNvSpPr txBox="1"/>
          <p:nvPr/>
        </p:nvSpPr>
        <p:spPr>
          <a:xfrm>
            <a:off x="6245352" y="5120640"/>
            <a:ext cx="1600200" cy="731520"/>
          </a:xfrm>
          <a:prstGeom prst="rect">
            <a:avLst/>
          </a:prstGeom>
          <a:noFill/>
          <a:ln/>
        </p:spPr>
        <p:txBody>
          <a:bodyPr wrap="square" lIns="0" tIns="0" rIns="0" bIns="0" rtlCol="0" anchor="ctr"/>
          <a:lstStyle/>
          <a:p>
            <a:pPr indent="0" marL="0">
              <a:buNone/>
            </a:pPr>
            <a:r>
              <a:rPr lang="en-US" sz="3200" b="1" dirty="0">
                <a:solidFill>
                  <a:schemeClr val="accent1"/>
                </a:solidFill>
              </a:rPr>
              <a:t>3,116</a:t>
            </a:r>
            <a:endParaRPr lang="en-US" sz="3200" dirty="0"/>
          </a:p>
        </p:txBody>
      </p:sp>
      <p:sp>
        <p:nvSpPr>
          <p:cNvPr id="11" name="Text 7"/>
          <p:cNvSpPr txBox="1"/>
          <p:nvPr/>
        </p:nvSpPr>
        <p:spPr>
          <a:xfrm>
            <a:off x="7891272" y="5120640"/>
            <a:ext cx="3749040" cy="731520"/>
          </a:xfrm>
          <a:prstGeom prst="rect">
            <a:avLst/>
          </a:prstGeom>
          <a:noFill/>
          <a:ln/>
        </p:spPr>
        <p:txBody>
          <a:bodyPr wrap="square" lIns="0" tIns="0" rIns="0" bIns="0" rtlCol="0" anchor="ctr"/>
          <a:lstStyle/>
          <a:p>
            <a:pPr indent="0" marL="0">
              <a:buNone/>
            </a:pPr>
            <a:r>
              <a:rPr lang="en-US" sz="1400" dirty="0">
                <a:solidFill>
                  <a:schemeClr val="accent3"/>
                </a:solidFill>
              </a:rPr>
              <a:t>customers (80%) are Loyal, with more than 10 previous purchases. Nobody is New.</a:t>
            </a:r>
            <a:endParaRPr lang="en-US" sz="14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Revenue by age group</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Q10  ·  Young adults lead by about $6,400, mostly because there are more of them.</a:t>
            </a:r>
            <a:endParaRPr lang="en-US" sz="1600" dirty="0"/>
          </a:p>
        </p:txBody>
      </p:sp>
      <p:sp>
        <p:nvSpPr>
          <p:cNvPr id="4" name="Shape 2"/>
          <p:cNvSpPr/>
          <p:nvPr/>
        </p:nvSpPr>
        <p:spPr>
          <a:xfrm>
            <a:off x="512064" y="1655064"/>
            <a:ext cx="6154775" cy="4462272"/>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Q10 query and result: Young_Adult 62,143, Middle_Aged 59,197, Adult 55,978, Senior 55,763">    </p:cNvPr>
          <p:cNvPicPr>
            <a:picLocks noChangeAspect="1"/>
          </p:cNvPicPr>
          <p:nvPr/>
        </p:nvPicPr>
        <p:blipFill>
          <a:blip r:embed="rId1"/>
          <a:stretch>
            <a:fillRect/>
          </a:stretch>
        </p:blipFill>
        <p:spPr>
          <a:xfrm>
            <a:off x="548640" y="1691640"/>
            <a:ext cx="6081623" cy="4389120"/>
          </a:xfrm>
          <a:prstGeom prst="rect">
            <a:avLst/>
          </a:prstGeom>
        </p:spPr>
      </p:pic>
      <p:sp>
        <p:nvSpPr>
          <p:cNvPr id="6" name="Text 3"/>
          <p:cNvSpPr txBox="1"/>
          <p:nvPr/>
        </p:nvSpPr>
        <p:spPr>
          <a:xfrm>
            <a:off x="7726680" y="1737360"/>
            <a:ext cx="3657600" cy="320040"/>
          </a:xfrm>
          <a:prstGeom prst="rect">
            <a:avLst/>
          </a:prstGeom>
          <a:noFill/>
          <a:ln/>
        </p:spPr>
        <p:txBody>
          <a:bodyPr wrap="square" lIns="0" tIns="0" rIns="0" bIns="0" rtlCol="0" anchor="t"/>
          <a:lstStyle/>
          <a:p>
            <a:pPr indent="0" marL="0">
              <a:buNone/>
            </a:pPr>
            <a:r>
              <a:rPr lang="en-US" sz="1400" b="1" dirty="0">
                <a:solidFill>
                  <a:schemeClr val="tx1"/>
                </a:solidFill>
              </a:rPr>
              <a:t>Customers per group</a:t>
            </a:r>
            <a:endParaRPr lang="en-US" sz="1400" dirty="0"/>
          </a:p>
        </p:txBody>
      </p:sp>
      <p:sp>
        <p:nvSpPr>
          <p:cNvPr id="7" name="Shape 4"/>
          <p:cNvSpPr/>
          <p:nvPr/>
        </p:nvSpPr>
        <p:spPr>
          <a:xfrm>
            <a:off x="7726680" y="2148840"/>
            <a:ext cx="3913632" cy="585216"/>
          </a:xfrm>
          <a:prstGeom prst="roundRect">
            <a:avLst>
              <a:gd name="adj" fmla="val 12500"/>
            </a:avLst>
          </a:prstGeom>
          <a:solidFill>
            <a:schemeClr val="bg2"/>
          </a:solidFill>
          <a:ln w="9525">
            <a:solidFill>
              <a:srgbClr val="1C3FD6"/>
            </a:solidFill>
            <a:prstDash val="solid"/>
          </a:ln>
          <a:effectLst>
            <a:outerShdw sx="100000" sy="100000" kx="0" ky="0" algn="bl" rotWithShape="0" blurRad="101600" dist="25400" dir="5400000">
              <a:srgbClr val="0E1F6E">
                <a:alpha val="12000"/>
              </a:srgbClr>
            </a:outerShdw>
          </a:effectLst>
        </p:spPr>
      </p:sp>
      <p:sp>
        <p:nvSpPr>
          <p:cNvPr id="8" name="Text 5"/>
          <p:cNvSpPr txBox="1"/>
          <p:nvPr/>
        </p:nvSpPr>
        <p:spPr>
          <a:xfrm>
            <a:off x="7955280" y="2148840"/>
            <a:ext cx="2286000" cy="585216"/>
          </a:xfrm>
          <a:prstGeom prst="rect">
            <a:avLst/>
          </a:prstGeom>
          <a:noFill/>
          <a:ln/>
        </p:spPr>
        <p:txBody>
          <a:bodyPr wrap="square" lIns="0" tIns="0" rIns="0" bIns="0" rtlCol="0" anchor="ctr"/>
          <a:lstStyle/>
          <a:p>
            <a:pPr indent="0" marL="0">
              <a:buNone/>
            </a:pPr>
            <a:r>
              <a:rPr lang="en-US" sz="1400" dirty="0">
                <a:solidFill>
                  <a:schemeClr val="tx1"/>
                </a:solidFill>
              </a:rPr>
              <a:t>Young adult</a:t>
            </a:r>
            <a:endParaRPr lang="en-US" sz="1400" dirty="0"/>
          </a:p>
        </p:txBody>
      </p:sp>
      <p:sp>
        <p:nvSpPr>
          <p:cNvPr id="9" name="Text 6"/>
          <p:cNvSpPr txBox="1"/>
          <p:nvPr/>
        </p:nvSpPr>
        <p:spPr>
          <a:xfrm>
            <a:off x="9966960" y="2148840"/>
            <a:ext cx="1463040" cy="585216"/>
          </a:xfrm>
          <a:prstGeom prst="rect">
            <a:avLst/>
          </a:prstGeom>
          <a:noFill/>
          <a:ln/>
        </p:spPr>
        <p:txBody>
          <a:bodyPr wrap="square" lIns="0" tIns="0" rIns="0" bIns="0" rtlCol="0" anchor="ctr"/>
          <a:lstStyle/>
          <a:p>
            <a:pPr algn="r" indent="0" marL="0">
              <a:buNone/>
            </a:pPr>
            <a:r>
              <a:rPr lang="en-US" sz="1800" b="1" dirty="0">
                <a:solidFill>
                  <a:schemeClr val="accent1"/>
                </a:solidFill>
              </a:rPr>
              <a:t>1,028</a:t>
            </a:r>
            <a:endParaRPr lang="en-US" sz="1800" dirty="0"/>
          </a:p>
        </p:txBody>
      </p:sp>
      <p:sp>
        <p:nvSpPr>
          <p:cNvPr id="10" name="Shape 7"/>
          <p:cNvSpPr/>
          <p:nvPr/>
        </p:nvSpPr>
        <p:spPr>
          <a:xfrm>
            <a:off x="7726680" y="2862072"/>
            <a:ext cx="3913632" cy="585216"/>
          </a:xfrm>
          <a:prstGeom prst="roundRect">
            <a:avLst>
              <a:gd name="adj" fmla="val 12500"/>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1" name="Text 8"/>
          <p:cNvSpPr txBox="1"/>
          <p:nvPr/>
        </p:nvSpPr>
        <p:spPr>
          <a:xfrm>
            <a:off x="7955280" y="2862072"/>
            <a:ext cx="2286000" cy="585216"/>
          </a:xfrm>
          <a:prstGeom prst="rect">
            <a:avLst/>
          </a:prstGeom>
          <a:noFill/>
          <a:ln/>
        </p:spPr>
        <p:txBody>
          <a:bodyPr wrap="square" lIns="0" tIns="0" rIns="0" bIns="0" rtlCol="0" anchor="ctr"/>
          <a:lstStyle/>
          <a:p>
            <a:pPr indent="0" marL="0">
              <a:buNone/>
            </a:pPr>
            <a:r>
              <a:rPr lang="en-US" sz="1400" dirty="0">
                <a:solidFill>
                  <a:schemeClr val="tx1"/>
                </a:solidFill>
              </a:rPr>
              <a:t>Middle-aged</a:t>
            </a:r>
            <a:endParaRPr lang="en-US" sz="1400" dirty="0"/>
          </a:p>
        </p:txBody>
      </p:sp>
      <p:sp>
        <p:nvSpPr>
          <p:cNvPr id="12" name="Text 9"/>
          <p:cNvSpPr txBox="1"/>
          <p:nvPr/>
        </p:nvSpPr>
        <p:spPr>
          <a:xfrm>
            <a:off x="9966960" y="2862072"/>
            <a:ext cx="1463040" cy="585216"/>
          </a:xfrm>
          <a:prstGeom prst="rect">
            <a:avLst/>
          </a:prstGeom>
          <a:noFill/>
          <a:ln/>
        </p:spPr>
        <p:txBody>
          <a:bodyPr wrap="square" lIns="0" tIns="0" rIns="0" bIns="0" rtlCol="0" anchor="ctr"/>
          <a:lstStyle/>
          <a:p>
            <a:pPr algn="r" indent="0" marL="0">
              <a:buNone/>
            </a:pPr>
            <a:r>
              <a:rPr lang="en-US" sz="1800" b="1" dirty="0">
                <a:solidFill>
                  <a:schemeClr val="accent1"/>
                </a:solidFill>
              </a:rPr>
              <a:t>986</a:t>
            </a:r>
            <a:endParaRPr lang="en-US" sz="1800" dirty="0"/>
          </a:p>
        </p:txBody>
      </p:sp>
      <p:sp>
        <p:nvSpPr>
          <p:cNvPr id="13" name="Shape 10"/>
          <p:cNvSpPr/>
          <p:nvPr/>
        </p:nvSpPr>
        <p:spPr>
          <a:xfrm>
            <a:off x="7726680" y="3575304"/>
            <a:ext cx="3913632" cy="585216"/>
          </a:xfrm>
          <a:prstGeom prst="roundRect">
            <a:avLst>
              <a:gd name="adj" fmla="val 12500"/>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4" name="Text 11"/>
          <p:cNvSpPr txBox="1"/>
          <p:nvPr/>
        </p:nvSpPr>
        <p:spPr>
          <a:xfrm>
            <a:off x="7955280" y="3575304"/>
            <a:ext cx="2286000" cy="585216"/>
          </a:xfrm>
          <a:prstGeom prst="rect">
            <a:avLst/>
          </a:prstGeom>
          <a:noFill/>
          <a:ln/>
        </p:spPr>
        <p:txBody>
          <a:bodyPr wrap="square" lIns="0" tIns="0" rIns="0" bIns="0" rtlCol="0" anchor="ctr"/>
          <a:lstStyle/>
          <a:p>
            <a:pPr indent="0" marL="0">
              <a:buNone/>
            </a:pPr>
            <a:r>
              <a:rPr lang="en-US" sz="1400" dirty="0">
                <a:solidFill>
                  <a:schemeClr val="tx1"/>
                </a:solidFill>
              </a:rPr>
              <a:t>Senior</a:t>
            </a:r>
            <a:endParaRPr lang="en-US" sz="1400" dirty="0"/>
          </a:p>
        </p:txBody>
      </p:sp>
      <p:sp>
        <p:nvSpPr>
          <p:cNvPr id="15" name="Text 12"/>
          <p:cNvSpPr txBox="1"/>
          <p:nvPr/>
        </p:nvSpPr>
        <p:spPr>
          <a:xfrm>
            <a:off x="9966960" y="3575304"/>
            <a:ext cx="1463040" cy="585216"/>
          </a:xfrm>
          <a:prstGeom prst="rect">
            <a:avLst/>
          </a:prstGeom>
          <a:noFill/>
          <a:ln/>
        </p:spPr>
        <p:txBody>
          <a:bodyPr wrap="square" lIns="0" tIns="0" rIns="0" bIns="0" rtlCol="0" anchor="ctr"/>
          <a:lstStyle/>
          <a:p>
            <a:pPr algn="r" indent="0" marL="0">
              <a:buNone/>
            </a:pPr>
            <a:r>
              <a:rPr lang="en-US" sz="1800" b="1" dirty="0">
                <a:solidFill>
                  <a:schemeClr val="accent1"/>
                </a:solidFill>
              </a:rPr>
              <a:t>944</a:t>
            </a:r>
            <a:endParaRPr lang="en-US" sz="1800" dirty="0"/>
          </a:p>
        </p:txBody>
      </p:sp>
      <p:sp>
        <p:nvSpPr>
          <p:cNvPr id="16" name="Shape 13"/>
          <p:cNvSpPr/>
          <p:nvPr/>
        </p:nvSpPr>
        <p:spPr>
          <a:xfrm>
            <a:off x="7726680" y="4288536"/>
            <a:ext cx="3913632" cy="585216"/>
          </a:xfrm>
          <a:prstGeom prst="roundRect">
            <a:avLst>
              <a:gd name="adj" fmla="val 12500"/>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7" name="Text 14"/>
          <p:cNvSpPr txBox="1"/>
          <p:nvPr/>
        </p:nvSpPr>
        <p:spPr>
          <a:xfrm>
            <a:off x="7955280" y="4288536"/>
            <a:ext cx="2286000" cy="585216"/>
          </a:xfrm>
          <a:prstGeom prst="rect">
            <a:avLst/>
          </a:prstGeom>
          <a:noFill/>
          <a:ln/>
        </p:spPr>
        <p:txBody>
          <a:bodyPr wrap="square" lIns="0" tIns="0" rIns="0" bIns="0" rtlCol="0" anchor="ctr"/>
          <a:lstStyle/>
          <a:p>
            <a:pPr indent="0" marL="0">
              <a:buNone/>
            </a:pPr>
            <a:r>
              <a:rPr lang="en-US" sz="1400" dirty="0">
                <a:solidFill>
                  <a:schemeClr val="tx1"/>
                </a:solidFill>
              </a:rPr>
              <a:t>Adult</a:t>
            </a:r>
            <a:endParaRPr lang="en-US" sz="1400" dirty="0"/>
          </a:p>
        </p:txBody>
      </p:sp>
      <p:sp>
        <p:nvSpPr>
          <p:cNvPr id="18" name="Text 15"/>
          <p:cNvSpPr txBox="1"/>
          <p:nvPr/>
        </p:nvSpPr>
        <p:spPr>
          <a:xfrm>
            <a:off x="9966960" y="4288536"/>
            <a:ext cx="1463040" cy="585216"/>
          </a:xfrm>
          <a:prstGeom prst="rect">
            <a:avLst/>
          </a:prstGeom>
          <a:noFill/>
          <a:ln/>
        </p:spPr>
        <p:txBody>
          <a:bodyPr wrap="square" lIns="0" tIns="0" rIns="0" bIns="0" rtlCol="0" anchor="ctr"/>
          <a:lstStyle/>
          <a:p>
            <a:pPr algn="r" indent="0" marL="0">
              <a:buNone/>
            </a:pPr>
            <a:r>
              <a:rPr lang="en-US" sz="1800" b="1" dirty="0">
                <a:solidFill>
                  <a:schemeClr val="accent1"/>
                </a:solidFill>
              </a:rPr>
              <a:t>942</a:t>
            </a:r>
            <a:endParaRPr lang="en-US" sz="1800" dirty="0"/>
          </a:p>
        </p:txBody>
      </p:sp>
      <p:sp>
        <p:nvSpPr>
          <p:cNvPr id="19" name="Text 16"/>
          <p:cNvSpPr txBox="1"/>
          <p:nvPr/>
        </p:nvSpPr>
        <p:spPr>
          <a:xfrm>
            <a:off x="7726680" y="5074920"/>
            <a:ext cx="3913632" cy="1005840"/>
          </a:xfrm>
          <a:prstGeom prst="rect">
            <a:avLst/>
          </a:prstGeom>
          <a:noFill/>
          <a:ln/>
        </p:spPr>
        <p:txBody>
          <a:bodyPr wrap="square" lIns="0" tIns="0" rIns="0" bIns="0" rtlCol="0" anchor="t"/>
          <a:lstStyle/>
          <a:p>
            <a:pPr indent="0" marL="0">
              <a:buNone/>
            </a:pPr>
            <a:r>
              <a:rPr lang="en-US" sz="1300" dirty="0">
                <a:solidFill>
                  <a:schemeClr val="accent3"/>
                </a:solidFill>
              </a:rPr>
              <a:t>Groups come from pd.qcut, so each holds roughly a quarter of customers. The revenue gap tracks the gap in headcount, not higher spending per person.</a:t>
            </a:r>
            <a:endParaRPr lang="en-US" sz="13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The Power BI dashboard</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One page that management can filter without writing a query.</a:t>
            </a:r>
            <a:endParaRPr lang="en-US" sz="1600" dirty="0"/>
          </a:p>
        </p:txBody>
      </p:sp>
      <p:pic>
        <p:nvPicPr>
          <p:cNvPr id="4" name="Image 0" descr="Power BI Customer Behaviour Dashboard with KPI cards, slicers and category and age charts">    </p:cNvPr>
          <p:cNvPicPr>
            <a:picLocks noChangeAspect="1"/>
          </p:cNvPicPr>
          <p:nvPr/>
        </p:nvPicPr>
        <p:blipFill>
          <a:blip r:embed="rId1"/>
          <a:stretch>
            <a:fillRect/>
          </a:stretch>
        </p:blipFill>
        <p:spPr>
          <a:xfrm>
            <a:off x="548640" y="1691640"/>
            <a:ext cx="7223760" cy="4042463"/>
          </a:xfrm>
          <a:prstGeom prst="rect">
            <a:avLst/>
          </a:prstGeom>
          <a:effectLst>
            <a:outerShdw sx="100000" sy="100000" kx="0" ky="0" algn="bl" rotWithShape="0" blurRad="101600" dist="25400" dir="5400000">
              <a:srgbClr val="0E1F6E">
                <a:alpha val="12000"/>
              </a:srgbClr>
            </a:outerShdw>
          </a:effectLst>
        </p:spPr>
      </p:pic>
      <p:sp>
        <p:nvSpPr>
          <p:cNvPr id="5" name="Shape 2"/>
          <p:cNvSpPr/>
          <p:nvPr/>
        </p:nvSpPr>
        <p:spPr>
          <a:xfrm>
            <a:off x="8092440" y="1737360"/>
            <a:ext cx="502920" cy="502920"/>
          </a:xfrm>
          <a:prstGeom prst="ellipse">
            <a:avLst/>
          </a:prstGeom>
          <a:solidFill>
            <a:schemeClr val="bg2"/>
          </a:solidFill>
          <a:ln w="12700">
            <a:solidFill>
              <a:schemeClr val="bg2"/>
            </a:solidFill>
            <a:prstDash val="solid"/>
          </a:ln>
        </p:spPr>
      </p:sp>
      <p:pic>
        <p:nvPicPr>
          <p:cNvPr id="6" name="Image 1" descr="preencoded.png">    </p:cNvPr>
          <p:cNvPicPr>
            <a:picLocks noChangeAspect="1"/>
          </p:cNvPicPr>
          <p:nvPr/>
        </p:nvPicPr>
        <p:blipFill>
          <a:blip r:embed="rId2"/>
          <a:stretch>
            <a:fillRect/>
          </a:stretch>
        </p:blipFill>
        <p:spPr>
          <a:xfrm>
            <a:off x="8228228" y="1873148"/>
            <a:ext cx="231343" cy="231343"/>
          </a:xfrm>
          <a:prstGeom prst="rect">
            <a:avLst/>
          </a:prstGeom>
        </p:spPr>
      </p:pic>
      <p:sp>
        <p:nvSpPr>
          <p:cNvPr id="7" name="Text 3"/>
          <p:cNvSpPr txBox="1"/>
          <p:nvPr/>
        </p:nvSpPr>
        <p:spPr>
          <a:xfrm>
            <a:off x="8732520" y="1719072"/>
            <a:ext cx="2926080" cy="292608"/>
          </a:xfrm>
          <a:prstGeom prst="rect">
            <a:avLst/>
          </a:prstGeom>
          <a:noFill/>
          <a:ln/>
        </p:spPr>
        <p:txBody>
          <a:bodyPr wrap="square" lIns="0" tIns="0" rIns="0" bIns="0" rtlCol="0" anchor="t"/>
          <a:lstStyle/>
          <a:p>
            <a:pPr indent="0" marL="0">
              <a:buNone/>
            </a:pPr>
            <a:r>
              <a:rPr lang="en-US" sz="1500" b="1" dirty="0">
                <a:solidFill>
                  <a:schemeClr val="tx2"/>
                </a:solidFill>
              </a:rPr>
              <a:t>Slicers</a:t>
            </a:r>
            <a:endParaRPr lang="en-US" sz="1500" dirty="0"/>
          </a:p>
        </p:txBody>
      </p:sp>
      <p:sp>
        <p:nvSpPr>
          <p:cNvPr id="8" name="Text 4"/>
          <p:cNvSpPr txBox="1"/>
          <p:nvPr/>
        </p:nvSpPr>
        <p:spPr>
          <a:xfrm>
            <a:off x="8732520" y="2011680"/>
            <a:ext cx="2926080" cy="502920"/>
          </a:xfrm>
          <a:prstGeom prst="rect">
            <a:avLst/>
          </a:prstGeom>
          <a:noFill/>
          <a:ln/>
        </p:spPr>
        <p:txBody>
          <a:bodyPr wrap="square" lIns="0" tIns="0" rIns="0" bIns="0" rtlCol="0" anchor="t"/>
          <a:lstStyle/>
          <a:p>
            <a:pPr indent="0" marL="0">
              <a:buNone/>
            </a:pPr>
            <a:r>
              <a:rPr lang="en-US" sz="1200" dirty="0">
                <a:solidFill>
                  <a:schemeClr val="accent3"/>
                </a:solidFill>
              </a:rPr>
              <a:t>Subscription, gender, category and shipping type</a:t>
            </a:r>
            <a:endParaRPr lang="en-US" sz="1200" dirty="0"/>
          </a:p>
        </p:txBody>
      </p:sp>
      <p:sp>
        <p:nvSpPr>
          <p:cNvPr id="9" name="Shape 5"/>
          <p:cNvSpPr/>
          <p:nvPr/>
        </p:nvSpPr>
        <p:spPr>
          <a:xfrm>
            <a:off x="8092440" y="2606040"/>
            <a:ext cx="502920" cy="502920"/>
          </a:xfrm>
          <a:prstGeom prst="ellipse">
            <a:avLst/>
          </a:prstGeom>
          <a:solidFill>
            <a:schemeClr val="bg2"/>
          </a:solidFill>
          <a:ln w="12700">
            <a:solidFill>
              <a:schemeClr val="bg2"/>
            </a:solidFill>
            <a:prstDash val="solid"/>
          </a:ln>
        </p:spPr>
      </p:sp>
      <p:pic>
        <p:nvPicPr>
          <p:cNvPr id="10" name="Image 2" descr="preencoded.png">    </p:cNvPr>
          <p:cNvPicPr>
            <a:picLocks noChangeAspect="1"/>
          </p:cNvPicPr>
          <p:nvPr/>
        </p:nvPicPr>
        <p:blipFill>
          <a:blip r:embed="rId3"/>
          <a:stretch>
            <a:fillRect/>
          </a:stretch>
        </p:blipFill>
        <p:spPr>
          <a:xfrm>
            <a:off x="8228228" y="2741828"/>
            <a:ext cx="231343" cy="231343"/>
          </a:xfrm>
          <a:prstGeom prst="rect">
            <a:avLst/>
          </a:prstGeom>
        </p:spPr>
      </p:pic>
      <p:sp>
        <p:nvSpPr>
          <p:cNvPr id="11" name="Text 6"/>
          <p:cNvSpPr txBox="1"/>
          <p:nvPr/>
        </p:nvSpPr>
        <p:spPr>
          <a:xfrm>
            <a:off x="8732520" y="2587752"/>
            <a:ext cx="2926080" cy="292608"/>
          </a:xfrm>
          <a:prstGeom prst="rect">
            <a:avLst/>
          </a:prstGeom>
          <a:noFill/>
          <a:ln/>
        </p:spPr>
        <p:txBody>
          <a:bodyPr wrap="square" lIns="0" tIns="0" rIns="0" bIns="0" rtlCol="0" anchor="t"/>
          <a:lstStyle/>
          <a:p>
            <a:pPr indent="0" marL="0">
              <a:buNone/>
            </a:pPr>
            <a:r>
              <a:rPr lang="en-US" sz="1500" b="1" dirty="0">
                <a:solidFill>
                  <a:schemeClr val="tx2"/>
                </a:solidFill>
              </a:rPr>
              <a:t>KPI cards</a:t>
            </a:r>
            <a:endParaRPr lang="en-US" sz="1500" dirty="0"/>
          </a:p>
        </p:txBody>
      </p:sp>
      <p:sp>
        <p:nvSpPr>
          <p:cNvPr id="12" name="Text 7"/>
          <p:cNvSpPr txBox="1"/>
          <p:nvPr/>
        </p:nvSpPr>
        <p:spPr>
          <a:xfrm>
            <a:off x="8732520" y="2880360"/>
            <a:ext cx="2926080" cy="502920"/>
          </a:xfrm>
          <a:prstGeom prst="rect">
            <a:avLst/>
          </a:prstGeom>
          <a:noFill/>
          <a:ln/>
        </p:spPr>
        <p:txBody>
          <a:bodyPr wrap="square" lIns="0" tIns="0" rIns="0" bIns="0" rtlCol="0" anchor="t"/>
          <a:lstStyle/>
          <a:p>
            <a:pPr indent="0" marL="0">
              <a:buNone/>
            </a:pPr>
            <a:r>
              <a:rPr lang="en-US" sz="1200" dirty="0">
                <a:solidFill>
                  <a:schemeClr val="accent3"/>
                </a:solidFill>
              </a:rPr>
              <a:t>3.9K customers, $59.76 avg purchase, 3.75 rating</a:t>
            </a:r>
            <a:endParaRPr lang="en-US" sz="1200" dirty="0"/>
          </a:p>
        </p:txBody>
      </p:sp>
      <p:sp>
        <p:nvSpPr>
          <p:cNvPr id="13" name="Shape 8"/>
          <p:cNvSpPr/>
          <p:nvPr/>
        </p:nvSpPr>
        <p:spPr>
          <a:xfrm>
            <a:off x="8092440" y="3474720"/>
            <a:ext cx="502920" cy="502920"/>
          </a:xfrm>
          <a:prstGeom prst="ellipse">
            <a:avLst/>
          </a:prstGeom>
          <a:solidFill>
            <a:schemeClr val="bg2"/>
          </a:solidFill>
          <a:ln w="12700">
            <a:solidFill>
              <a:schemeClr val="bg2"/>
            </a:solidFill>
            <a:prstDash val="solid"/>
          </a:ln>
        </p:spPr>
      </p:sp>
      <p:pic>
        <p:nvPicPr>
          <p:cNvPr id="14" name="Image 3" descr="preencoded.png">    </p:cNvPr>
          <p:cNvPicPr>
            <a:picLocks noChangeAspect="1"/>
          </p:cNvPicPr>
          <p:nvPr/>
        </p:nvPicPr>
        <p:blipFill>
          <a:blip r:embed="rId4"/>
          <a:stretch>
            <a:fillRect/>
          </a:stretch>
        </p:blipFill>
        <p:spPr>
          <a:xfrm>
            <a:off x="8228228" y="3610508"/>
            <a:ext cx="231343" cy="231343"/>
          </a:xfrm>
          <a:prstGeom prst="rect">
            <a:avLst/>
          </a:prstGeom>
        </p:spPr>
      </p:pic>
      <p:sp>
        <p:nvSpPr>
          <p:cNvPr id="15" name="Text 9"/>
          <p:cNvSpPr txBox="1"/>
          <p:nvPr/>
        </p:nvSpPr>
        <p:spPr>
          <a:xfrm>
            <a:off x="8732520" y="3456432"/>
            <a:ext cx="2926080" cy="292608"/>
          </a:xfrm>
          <a:prstGeom prst="rect">
            <a:avLst/>
          </a:prstGeom>
          <a:noFill/>
          <a:ln/>
        </p:spPr>
        <p:txBody>
          <a:bodyPr wrap="square" lIns="0" tIns="0" rIns="0" bIns="0" rtlCol="0" anchor="t"/>
          <a:lstStyle/>
          <a:p>
            <a:pPr indent="0" marL="0">
              <a:buNone/>
            </a:pPr>
            <a:r>
              <a:rPr lang="en-US" sz="1500" b="1" dirty="0">
                <a:solidFill>
                  <a:schemeClr val="tx2"/>
                </a:solidFill>
              </a:rPr>
              <a:t>Five charts</a:t>
            </a:r>
            <a:endParaRPr lang="en-US" sz="1500" dirty="0"/>
          </a:p>
        </p:txBody>
      </p:sp>
      <p:sp>
        <p:nvSpPr>
          <p:cNvPr id="16" name="Text 10"/>
          <p:cNvSpPr txBox="1"/>
          <p:nvPr/>
        </p:nvSpPr>
        <p:spPr>
          <a:xfrm>
            <a:off x="8732520" y="3749040"/>
            <a:ext cx="2926080" cy="502920"/>
          </a:xfrm>
          <a:prstGeom prst="rect">
            <a:avLst/>
          </a:prstGeom>
          <a:noFill/>
          <a:ln/>
        </p:spPr>
        <p:txBody>
          <a:bodyPr wrap="square" lIns="0" tIns="0" rIns="0" bIns="0" rtlCol="0" anchor="t"/>
          <a:lstStyle/>
          <a:p>
            <a:pPr indent="0" marL="0">
              <a:buNone/>
            </a:pPr>
            <a:r>
              <a:rPr lang="en-US" sz="1200" dirty="0">
                <a:solidFill>
                  <a:schemeClr val="accent3"/>
                </a:solidFill>
              </a:rPr>
              <a:t>Subscription share, category and age views</a:t>
            </a:r>
            <a:endParaRPr lang="en-US" sz="1200" dirty="0"/>
          </a:p>
        </p:txBody>
      </p:sp>
      <p:sp>
        <p:nvSpPr>
          <p:cNvPr id="17" name="Shape 11"/>
          <p:cNvSpPr/>
          <p:nvPr/>
        </p:nvSpPr>
        <p:spPr>
          <a:xfrm>
            <a:off x="8092440" y="4434840"/>
            <a:ext cx="3547872" cy="1645920"/>
          </a:xfrm>
          <a:prstGeom prst="roundRect">
            <a:avLst>
              <a:gd name="adj" fmla="val 4444"/>
            </a:avLst>
          </a:prstGeom>
          <a:solidFill>
            <a:schemeClr val="accent1"/>
          </a:solidFill>
          <a:ln w="12700">
            <a:solidFill>
              <a:schemeClr val="accent1"/>
            </a:solidFill>
            <a:prstDash val="solid"/>
          </a:ln>
        </p:spPr>
      </p:sp>
      <p:sp>
        <p:nvSpPr>
          <p:cNvPr id="18" name="Text 12"/>
          <p:cNvSpPr txBox="1"/>
          <p:nvPr/>
        </p:nvSpPr>
        <p:spPr>
          <a:xfrm>
            <a:off x="8321040" y="4572000"/>
            <a:ext cx="3108960" cy="1417320"/>
          </a:xfrm>
          <a:prstGeom prst="rect">
            <a:avLst/>
          </a:prstGeom>
          <a:noFill/>
          <a:ln/>
        </p:spPr>
        <p:txBody>
          <a:bodyPr wrap="square" lIns="0" tIns="0" rIns="0" bIns="0" rtlCol="0" anchor="t"/>
          <a:lstStyle/>
          <a:p>
            <a:pPr indent="0" marL="0">
              <a:buNone/>
            </a:pPr>
            <a:r>
              <a:rPr lang="en-US" sz="2400" b="1" dirty="0">
                <a:solidFill>
                  <a:schemeClr val="bg1"/>
                </a:solidFill>
              </a:rPr>
              <a:t>45% vs 8%</a:t>
            </a:r>
            <a:endParaRPr lang="en-US" sz="1400" dirty="0"/>
          </a:p>
          <a:p>
            <a:pPr indent="0" marL="0">
              <a:buNone/>
            </a:pPr>
            <a:r>
              <a:rPr lang="en-US" sz="1200" dirty="0">
                <a:solidFill>
                  <a:schemeClr val="bg1"/>
                </a:solidFill>
              </a:rPr>
              <a:t>Clothing earns $104,264 from 1,737 sales; Outerwear $18,524 from 324. Order value is $57 to $60 everywhere.</a:t>
            </a:r>
            <a:endParaRPr lang="en-US" sz="14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Categories differ in volume, not order value</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Clothing and Accessories together bring in 77% of revenue.</a:t>
            </a:r>
            <a:endParaRPr lang="en-US" sz="1600" dirty="0"/>
          </a:p>
        </p:txBody>
      </p:sp>
      <p:sp>
        <p:nvSpPr>
          <p:cNvPr id="4" name="Shape 2"/>
          <p:cNvSpPr/>
          <p:nvPr/>
        </p:nvSpPr>
        <p:spPr>
          <a:xfrm>
            <a:off x="1030616" y="1746504"/>
            <a:ext cx="5985488" cy="4005072"/>
          </a:xfrm>
          <a:prstGeom prst="rect">
            <a:avLst/>
          </a:prstGeom>
          <a:solidFill>
            <a:srgbClr val="FFFFFF"/>
          </a:solidFill>
          <a:ln w="9525">
            <a:solidFill>
              <a:srgbClr val="D9DFF0"/>
            </a:solidFill>
            <a:prstDash val="solid"/>
          </a:ln>
          <a:effectLst>
            <a:outerShdw sx="100000" sy="100000" kx="0" ky="0" algn="bl" rotWithShape="0" blurRad="101600" dist="25400" dir="5400000">
              <a:srgbClr val="0E1F6E">
                <a:alpha val="12000"/>
              </a:srgbClr>
            </a:outerShdw>
          </a:effectLst>
        </p:spPr>
      </p:sp>
      <p:pic>
        <p:nvPicPr>
          <p:cNvPr id="5" name="Image 0" descr="Power BI visual: revenue by category, Clothing 104K, Accessories 74K, Footwear 36K, Outerwear 19K">    </p:cNvPr>
          <p:cNvPicPr>
            <a:picLocks noChangeAspect="1"/>
          </p:cNvPicPr>
          <p:nvPr/>
        </p:nvPicPr>
        <p:blipFill>
          <a:blip r:embed="rId1"/>
          <a:stretch>
            <a:fillRect/>
          </a:stretch>
        </p:blipFill>
        <p:spPr>
          <a:xfrm>
            <a:off x="1067192" y="1783080"/>
            <a:ext cx="5912336" cy="3931920"/>
          </a:xfrm>
          <a:prstGeom prst="rect">
            <a:avLst/>
          </a:prstGeom>
        </p:spPr>
      </p:pic>
      <p:sp>
        <p:nvSpPr>
          <p:cNvPr id="6" name="Shape 3"/>
          <p:cNvSpPr/>
          <p:nvPr/>
        </p:nvSpPr>
        <p:spPr>
          <a:xfrm>
            <a:off x="7863840" y="1691640"/>
            <a:ext cx="3776472" cy="1298448"/>
          </a:xfrm>
          <a:prstGeom prst="roundRect">
            <a:avLst>
              <a:gd name="adj" fmla="val 5634"/>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7" name="Text 4"/>
          <p:cNvSpPr txBox="1"/>
          <p:nvPr/>
        </p:nvSpPr>
        <p:spPr>
          <a:xfrm>
            <a:off x="8092440" y="1856232"/>
            <a:ext cx="1463040" cy="960120"/>
          </a:xfrm>
          <a:prstGeom prst="rect">
            <a:avLst/>
          </a:prstGeom>
          <a:noFill/>
          <a:ln/>
        </p:spPr>
        <p:txBody>
          <a:bodyPr wrap="square" lIns="0" tIns="0" rIns="0" bIns="0" rtlCol="0" anchor="ctr"/>
          <a:lstStyle/>
          <a:p>
            <a:pPr indent="0" marL="0">
              <a:buNone/>
            </a:pPr>
            <a:r>
              <a:rPr lang="en-US" sz="3200" b="1" dirty="0">
                <a:solidFill>
                  <a:schemeClr val="accent1"/>
                </a:solidFill>
              </a:rPr>
              <a:t>45%</a:t>
            </a:r>
            <a:endParaRPr lang="en-US" sz="3200" dirty="0"/>
          </a:p>
        </p:txBody>
      </p:sp>
      <p:sp>
        <p:nvSpPr>
          <p:cNvPr id="8" name="Text 5"/>
          <p:cNvSpPr txBox="1"/>
          <p:nvPr/>
        </p:nvSpPr>
        <p:spPr>
          <a:xfrm>
            <a:off x="9555480" y="1947672"/>
            <a:ext cx="1965960" cy="365760"/>
          </a:xfrm>
          <a:prstGeom prst="rect">
            <a:avLst/>
          </a:prstGeom>
          <a:noFill/>
          <a:ln/>
        </p:spPr>
        <p:txBody>
          <a:bodyPr wrap="square" lIns="0" tIns="0" rIns="0" bIns="0" rtlCol="0" anchor="t"/>
          <a:lstStyle/>
          <a:p>
            <a:pPr indent="0" marL="0">
              <a:buNone/>
            </a:pPr>
            <a:r>
              <a:rPr lang="en-US" sz="1400" b="1" dirty="0">
                <a:solidFill>
                  <a:schemeClr val="tx2"/>
                </a:solidFill>
              </a:rPr>
              <a:t>Clothing</a:t>
            </a:r>
            <a:endParaRPr lang="en-US" sz="1400" dirty="0"/>
          </a:p>
        </p:txBody>
      </p:sp>
      <p:sp>
        <p:nvSpPr>
          <p:cNvPr id="9" name="Text 6"/>
          <p:cNvSpPr txBox="1"/>
          <p:nvPr/>
        </p:nvSpPr>
        <p:spPr>
          <a:xfrm>
            <a:off x="9555480" y="2331720"/>
            <a:ext cx="1965960" cy="457200"/>
          </a:xfrm>
          <a:prstGeom prst="rect">
            <a:avLst/>
          </a:prstGeom>
          <a:noFill/>
          <a:ln/>
        </p:spPr>
        <p:txBody>
          <a:bodyPr wrap="square" lIns="0" tIns="0" rIns="0" bIns="0" rtlCol="0" anchor="t"/>
          <a:lstStyle/>
          <a:p>
            <a:pPr indent="0" marL="0">
              <a:buNone/>
            </a:pPr>
            <a:r>
              <a:rPr lang="en-US" sz="1200" dirty="0">
                <a:solidFill>
                  <a:schemeClr val="accent3"/>
                </a:solidFill>
              </a:rPr>
              <a:t>1,737 sales</a:t>
            </a:r>
            <a:endParaRPr lang="en-US" sz="1200" dirty="0"/>
          </a:p>
        </p:txBody>
      </p:sp>
      <p:sp>
        <p:nvSpPr>
          <p:cNvPr id="10" name="Shape 7"/>
          <p:cNvSpPr/>
          <p:nvPr/>
        </p:nvSpPr>
        <p:spPr>
          <a:xfrm>
            <a:off x="7863840" y="3172968"/>
            <a:ext cx="3776472" cy="1298448"/>
          </a:xfrm>
          <a:prstGeom prst="roundRect">
            <a:avLst>
              <a:gd name="adj" fmla="val 5634"/>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1" name="Text 8"/>
          <p:cNvSpPr txBox="1"/>
          <p:nvPr/>
        </p:nvSpPr>
        <p:spPr>
          <a:xfrm>
            <a:off x="8092440" y="3337560"/>
            <a:ext cx="1463040" cy="960120"/>
          </a:xfrm>
          <a:prstGeom prst="rect">
            <a:avLst/>
          </a:prstGeom>
          <a:noFill/>
          <a:ln/>
        </p:spPr>
        <p:txBody>
          <a:bodyPr wrap="square" lIns="0" tIns="0" rIns="0" bIns="0" rtlCol="0" anchor="ctr"/>
          <a:lstStyle/>
          <a:p>
            <a:pPr indent="0" marL="0">
              <a:buNone/>
            </a:pPr>
            <a:r>
              <a:rPr lang="en-US" sz="3200" b="1" dirty="0">
                <a:solidFill>
                  <a:schemeClr val="accent1"/>
                </a:solidFill>
              </a:rPr>
              <a:t>77%</a:t>
            </a:r>
            <a:endParaRPr lang="en-US" sz="3200" dirty="0"/>
          </a:p>
        </p:txBody>
      </p:sp>
      <p:sp>
        <p:nvSpPr>
          <p:cNvPr id="12" name="Text 9"/>
          <p:cNvSpPr txBox="1"/>
          <p:nvPr/>
        </p:nvSpPr>
        <p:spPr>
          <a:xfrm>
            <a:off x="9555480" y="3429000"/>
            <a:ext cx="1965960" cy="365760"/>
          </a:xfrm>
          <a:prstGeom prst="rect">
            <a:avLst/>
          </a:prstGeom>
          <a:noFill/>
          <a:ln/>
        </p:spPr>
        <p:txBody>
          <a:bodyPr wrap="square" lIns="0" tIns="0" rIns="0" bIns="0" rtlCol="0" anchor="t"/>
          <a:lstStyle/>
          <a:p>
            <a:pPr indent="0" marL="0">
              <a:buNone/>
            </a:pPr>
            <a:r>
              <a:rPr lang="en-US" sz="1400" b="1" dirty="0">
                <a:solidFill>
                  <a:schemeClr val="tx2"/>
                </a:solidFill>
              </a:rPr>
              <a:t>Top two together</a:t>
            </a:r>
            <a:endParaRPr lang="en-US" sz="1400" dirty="0"/>
          </a:p>
        </p:txBody>
      </p:sp>
      <p:sp>
        <p:nvSpPr>
          <p:cNvPr id="13" name="Text 10"/>
          <p:cNvSpPr txBox="1"/>
          <p:nvPr/>
        </p:nvSpPr>
        <p:spPr>
          <a:xfrm>
            <a:off x="9555480" y="3813048"/>
            <a:ext cx="1965960" cy="457200"/>
          </a:xfrm>
          <a:prstGeom prst="rect">
            <a:avLst/>
          </a:prstGeom>
          <a:noFill/>
          <a:ln/>
        </p:spPr>
        <p:txBody>
          <a:bodyPr wrap="square" lIns="0" tIns="0" rIns="0" bIns="0" rtlCol="0" anchor="t"/>
          <a:lstStyle/>
          <a:p>
            <a:pPr indent="0" marL="0">
              <a:buNone/>
            </a:pPr>
            <a:r>
              <a:rPr lang="en-US" sz="1200" dirty="0">
                <a:solidFill>
                  <a:schemeClr val="accent3"/>
                </a:solidFill>
              </a:rPr>
              <a:t>Clothing + Accessories</a:t>
            </a:r>
            <a:endParaRPr lang="en-US" sz="1200" dirty="0"/>
          </a:p>
        </p:txBody>
      </p:sp>
      <p:sp>
        <p:nvSpPr>
          <p:cNvPr id="14" name="Shape 11"/>
          <p:cNvSpPr/>
          <p:nvPr/>
        </p:nvSpPr>
        <p:spPr>
          <a:xfrm>
            <a:off x="7863840" y="4654296"/>
            <a:ext cx="3776472" cy="1298448"/>
          </a:xfrm>
          <a:prstGeom prst="roundRect">
            <a:avLst>
              <a:gd name="adj" fmla="val 5634"/>
            </a:avLst>
          </a:prstGeom>
          <a:solidFill>
            <a:schemeClr val="bg2"/>
          </a:solidFill>
          <a:ln w="9525">
            <a:solidFill>
              <a:srgbClr val="1C3FD6"/>
            </a:solidFill>
            <a:prstDash val="solid"/>
          </a:ln>
          <a:effectLst>
            <a:outerShdw sx="100000" sy="100000" kx="0" ky="0" algn="bl" rotWithShape="0" blurRad="101600" dist="25400" dir="5400000">
              <a:srgbClr val="0E1F6E">
                <a:alpha val="12000"/>
              </a:srgbClr>
            </a:outerShdw>
          </a:effectLst>
        </p:spPr>
      </p:sp>
      <p:sp>
        <p:nvSpPr>
          <p:cNvPr id="15" name="Text 12"/>
          <p:cNvSpPr txBox="1"/>
          <p:nvPr/>
        </p:nvSpPr>
        <p:spPr>
          <a:xfrm>
            <a:off x="8092440" y="4818888"/>
            <a:ext cx="1463040" cy="960120"/>
          </a:xfrm>
          <a:prstGeom prst="rect">
            <a:avLst/>
          </a:prstGeom>
          <a:noFill/>
          <a:ln/>
        </p:spPr>
        <p:txBody>
          <a:bodyPr wrap="square" lIns="0" tIns="0" rIns="0" bIns="0" rtlCol="0" anchor="ctr"/>
          <a:lstStyle/>
          <a:p>
            <a:pPr indent="0" marL="0">
              <a:buNone/>
            </a:pPr>
            <a:r>
              <a:rPr lang="en-US" sz="3200" b="1" dirty="0">
                <a:solidFill>
                  <a:schemeClr val="accent1"/>
                </a:solidFill>
              </a:rPr>
              <a:t>8%</a:t>
            </a:r>
            <a:endParaRPr lang="en-US" sz="3200" dirty="0"/>
          </a:p>
        </p:txBody>
      </p:sp>
      <p:sp>
        <p:nvSpPr>
          <p:cNvPr id="16" name="Text 13"/>
          <p:cNvSpPr txBox="1"/>
          <p:nvPr/>
        </p:nvSpPr>
        <p:spPr>
          <a:xfrm>
            <a:off x="9555480" y="4910328"/>
            <a:ext cx="1965960" cy="365760"/>
          </a:xfrm>
          <a:prstGeom prst="rect">
            <a:avLst/>
          </a:prstGeom>
          <a:noFill/>
          <a:ln/>
        </p:spPr>
        <p:txBody>
          <a:bodyPr wrap="square" lIns="0" tIns="0" rIns="0" bIns="0" rtlCol="0" anchor="t"/>
          <a:lstStyle/>
          <a:p>
            <a:pPr indent="0" marL="0">
              <a:buNone/>
            </a:pPr>
            <a:r>
              <a:rPr lang="en-US" sz="1400" b="1" dirty="0">
                <a:solidFill>
                  <a:schemeClr val="tx2"/>
                </a:solidFill>
              </a:rPr>
              <a:t>Outerwear</a:t>
            </a:r>
            <a:endParaRPr lang="en-US" sz="1400" dirty="0"/>
          </a:p>
        </p:txBody>
      </p:sp>
      <p:sp>
        <p:nvSpPr>
          <p:cNvPr id="17" name="Text 14"/>
          <p:cNvSpPr txBox="1"/>
          <p:nvPr/>
        </p:nvSpPr>
        <p:spPr>
          <a:xfrm>
            <a:off x="9555480" y="5294376"/>
            <a:ext cx="1965960" cy="457200"/>
          </a:xfrm>
          <a:prstGeom prst="rect">
            <a:avLst/>
          </a:prstGeom>
          <a:noFill/>
          <a:ln/>
        </p:spPr>
        <p:txBody>
          <a:bodyPr wrap="square" lIns="0" tIns="0" rIns="0" bIns="0" rtlCol="0" anchor="t"/>
          <a:lstStyle/>
          <a:p>
            <a:pPr indent="0" marL="0">
              <a:buNone/>
            </a:pPr>
            <a:r>
              <a:rPr lang="en-US" sz="1200" dirty="0">
                <a:solidFill>
                  <a:schemeClr val="accent3"/>
                </a:solidFill>
              </a:rPr>
              <a:t>324 sales, 2 products</a:t>
            </a:r>
            <a:endParaRPr lang="en-US" sz="1200" dirty="0"/>
          </a:p>
        </p:txBody>
      </p:sp>
      <p:sp>
        <p:nvSpPr>
          <p:cNvPr id="18" name="Text 15"/>
          <p:cNvSpPr txBox="1"/>
          <p:nvPr/>
        </p:nvSpPr>
        <p:spPr>
          <a:xfrm>
            <a:off x="548640" y="5852160"/>
            <a:ext cx="6949440" cy="228600"/>
          </a:xfrm>
          <a:prstGeom prst="rect">
            <a:avLst/>
          </a:prstGeom>
          <a:noFill/>
          <a:ln/>
        </p:spPr>
        <p:txBody>
          <a:bodyPr wrap="square" lIns="0" tIns="0" rIns="0" bIns="0" rtlCol="0" anchor="t"/>
          <a:lstStyle/>
          <a:p>
            <a:pPr algn="ctr" indent="0" marL="0">
              <a:buNone/>
            </a:pPr>
            <a:r>
              <a:rPr lang="en-US" sz="1000" dirty="0">
                <a:solidFill>
                  <a:schemeClr val="accent3"/>
                </a:solidFill>
              </a:rPr>
              <a:t>Revenue by Category visual from the Power BI dashboard.</a:t>
            </a:r>
            <a:endParaRPr lang="en-US" sz="10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Six things the business should do</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Ordered by how much the data backs them up.</a:t>
            </a:r>
            <a:endParaRPr lang="en-US" sz="1600" dirty="0"/>
          </a:p>
        </p:txBody>
      </p:sp>
      <p:sp>
        <p:nvSpPr>
          <p:cNvPr id="4" name="Shape 2"/>
          <p:cNvSpPr/>
          <p:nvPr/>
        </p:nvSpPr>
        <p:spPr>
          <a:xfrm>
            <a:off x="548640" y="1691640"/>
            <a:ext cx="3593592" cy="2011680"/>
          </a:xfrm>
          <a:prstGeom prst="roundRect">
            <a:avLst>
              <a:gd name="adj" fmla="val 3636"/>
            </a:avLst>
          </a:prstGeom>
          <a:solidFill>
            <a:schemeClr val="accent1"/>
          </a:solidFill>
          <a:ln w="9525">
            <a:solidFill>
              <a:srgbClr val="1C3FD6"/>
            </a:solidFill>
            <a:prstDash val="solid"/>
          </a:ln>
          <a:effectLst>
            <a:outerShdw sx="100000" sy="100000" kx="0" ky="0" algn="bl" rotWithShape="0" blurRad="101600" dist="25400" dir="5400000">
              <a:srgbClr val="0E1F6E">
                <a:alpha val="12000"/>
              </a:srgbClr>
            </a:outerShdw>
          </a:effectLst>
        </p:spPr>
      </p:sp>
      <p:sp>
        <p:nvSpPr>
          <p:cNvPr id="5" name="Shape 3"/>
          <p:cNvSpPr/>
          <p:nvPr/>
        </p:nvSpPr>
        <p:spPr>
          <a:xfrm>
            <a:off x="804672" y="1947672"/>
            <a:ext cx="530352" cy="530352"/>
          </a:xfrm>
          <a:prstGeom prst="ellipse">
            <a:avLst/>
          </a:prstGeom>
          <a:solidFill>
            <a:schemeClr val="bg1"/>
          </a:solidFill>
          <a:ln w="12700">
            <a:solidFill>
              <a:schemeClr val="bg1"/>
            </a:solidFill>
            <a:prstDash val="solid"/>
          </a:ln>
        </p:spPr>
      </p:sp>
      <p:sp>
        <p:nvSpPr>
          <p:cNvPr id="6" name="Text 4"/>
          <p:cNvSpPr txBox="1"/>
          <p:nvPr/>
        </p:nvSpPr>
        <p:spPr>
          <a:xfrm>
            <a:off x="804672" y="1947672"/>
            <a:ext cx="530352" cy="530352"/>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 name="Text 5"/>
          <p:cNvSpPr txBox="1"/>
          <p:nvPr/>
        </p:nvSpPr>
        <p:spPr>
          <a:xfrm>
            <a:off x="1463040" y="1965960"/>
            <a:ext cx="2560320" cy="502920"/>
          </a:xfrm>
          <a:prstGeom prst="rect">
            <a:avLst/>
          </a:prstGeom>
          <a:noFill/>
          <a:ln/>
        </p:spPr>
        <p:txBody>
          <a:bodyPr wrap="square" lIns="0" tIns="0" rIns="0" bIns="0" rtlCol="0" anchor="ctr"/>
          <a:lstStyle/>
          <a:p>
            <a:pPr indent="0" marL="0">
              <a:buNone/>
            </a:pPr>
            <a:r>
              <a:rPr lang="en-US" sz="1600" b="1" dirty="0">
                <a:solidFill>
                  <a:schemeClr val="bg1"/>
                </a:solidFill>
              </a:rPr>
              <a:t>Rework the subscription</a:t>
            </a:r>
            <a:endParaRPr lang="en-US" sz="1600" dirty="0"/>
          </a:p>
        </p:txBody>
      </p:sp>
      <p:sp>
        <p:nvSpPr>
          <p:cNvPr id="8" name="Text 6"/>
          <p:cNvSpPr txBox="1"/>
          <p:nvPr/>
        </p:nvSpPr>
        <p:spPr>
          <a:xfrm>
            <a:off x="804672" y="2651760"/>
            <a:ext cx="3108960" cy="960120"/>
          </a:xfrm>
          <a:prstGeom prst="rect">
            <a:avLst/>
          </a:prstGeom>
          <a:noFill/>
          <a:ln/>
        </p:spPr>
        <p:txBody>
          <a:bodyPr wrap="square" lIns="0" tIns="0" rIns="0" bIns="0" rtlCol="0" anchor="t"/>
          <a:lstStyle/>
          <a:p>
            <a:pPr indent="0" marL="0">
              <a:buNone/>
            </a:pPr>
            <a:r>
              <a:rPr lang="en-US" sz="1300" dirty="0">
                <a:solidFill>
                  <a:schemeClr val="bg1"/>
                </a:solidFill>
              </a:rPr>
              <a:t>Tie perks to spend, like free express shipping above a minimum order. Target the 2,518 repeat buyers first.</a:t>
            </a:r>
            <a:endParaRPr lang="en-US" sz="1300" dirty="0"/>
          </a:p>
        </p:txBody>
      </p:sp>
      <p:sp>
        <p:nvSpPr>
          <p:cNvPr id="9" name="Shape 7"/>
          <p:cNvSpPr/>
          <p:nvPr/>
        </p:nvSpPr>
        <p:spPr>
          <a:xfrm>
            <a:off x="4325112" y="1691640"/>
            <a:ext cx="3593592" cy="2011680"/>
          </a:xfrm>
          <a:prstGeom prst="roundRect">
            <a:avLst>
              <a:gd name="adj" fmla="val 363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0" name="Shape 8"/>
          <p:cNvSpPr/>
          <p:nvPr/>
        </p:nvSpPr>
        <p:spPr>
          <a:xfrm>
            <a:off x="4581144" y="1947672"/>
            <a:ext cx="530352" cy="530352"/>
          </a:xfrm>
          <a:prstGeom prst="ellipse">
            <a:avLst/>
          </a:prstGeom>
          <a:solidFill>
            <a:schemeClr val="accent1"/>
          </a:solidFill>
          <a:ln w="12700">
            <a:solidFill>
              <a:schemeClr val="accent1"/>
            </a:solidFill>
            <a:prstDash val="solid"/>
          </a:ln>
        </p:spPr>
      </p:sp>
      <p:sp>
        <p:nvSpPr>
          <p:cNvPr id="11" name="Text 9"/>
          <p:cNvSpPr txBox="1"/>
          <p:nvPr/>
        </p:nvSpPr>
        <p:spPr>
          <a:xfrm>
            <a:off x="4581144" y="1947672"/>
            <a:ext cx="530352" cy="53035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239512" y="1965960"/>
            <a:ext cx="2560320" cy="502920"/>
          </a:xfrm>
          <a:prstGeom prst="rect">
            <a:avLst/>
          </a:prstGeom>
          <a:noFill/>
          <a:ln/>
        </p:spPr>
        <p:txBody>
          <a:bodyPr wrap="square" lIns="0" tIns="0" rIns="0" bIns="0" rtlCol="0" anchor="ctr"/>
          <a:lstStyle/>
          <a:p>
            <a:pPr indent="0" marL="0">
              <a:buNone/>
            </a:pPr>
            <a:r>
              <a:rPr lang="en-US" sz="1600" b="1" dirty="0">
                <a:solidFill>
                  <a:schemeClr val="tx2"/>
                </a:solidFill>
              </a:rPr>
              <a:t>Test smaller discounts</a:t>
            </a:r>
            <a:endParaRPr lang="en-US" sz="1600" dirty="0"/>
          </a:p>
        </p:txBody>
      </p:sp>
      <p:sp>
        <p:nvSpPr>
          <p:cNvPr id="13" name="Text 11"/>
          <p:cNvSpPr txBox="1"/>
          <p:nvPr/>
        </p:nvSpPr>
        <p:spPr>
          <a:xfrm>
            <a:off x="4581144" y="2651760"/>
            <a:ext cx="3108960" cy="960120"/>
          </a:xfrm>
          <a:prstGeom prst="rect">
            <a:avLst/>
          </a:prstGeom>
          <a:noFill/>
          <a:ln/>
        </p:spPr>
        <p:txBody>
          <a:bodyPr wrap="square" lIns="0" tIns="0" rIns="0" bIns="0" rtlCol="0" anchor="t"/>
          <a:lstStyle/>
          <a:p>
            <a:pPr indent="0" marL="0">
              <a:buNone/>
            </a:pPr>
            <a:r>
              <a:rPr lang="en-US" sz="1300" dirty="0">
                <a:solidFill>
                  <a:schemeClr val="tx1"/>
                </a:solidFill>
              </a:rPr>
              <a:t>Cut discounts on Hat, Sneakers and Coat for a few weeks and watch whether sales actually drop.</a:t>
            </a:r>
            <a:endParaRPr lang="en-US" sz="1300" dirty="0"/>
          </a:p>
        </p:txBody>
      </p:sp>
      <p:sp>
        <p:nvSpPr>
          <p:cNvPr id="14" name="Shape 12"/>
          <p:cNvSpPr/>
          <p:nvPr/>
        </p:nvSpPr>
        <p:spPr>
          <a:xfrm>
            <a:off x="8101584" y="1691640"/>
            <a:ext cx="3593592" cy="2011680"/>
          </a:xfrm>
          <a:prstGeom prst="roundRect">
            <a:avLst>
              <a:gd name="adj" fmla="val 363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15" name="Shape 13"/>
          <p:cNvSpPr/>
          <p:nvPr/>
        </p:nvSpPr>
        <p:spPr>
          <a:xfrm>
            <a:off x="8357616" y="1947672"/>
            <a:ext cx="530352" cy="530352"/>
          </a:xfrm>
          <a:prstGeom prst="ellipse">
            <a:avLst/>
          </a:prstGeom>
          <a:solidFill>
            <a:schemeClr val="accent1"/>
          </a:solidFill>
          <a:ln w="12700">
            <a:solidFill>
              <a:schemeClr val="accent1"/>
            </a:solidFill>
            <a:prstDash val="solid"/>
          </a:ln>
        </p:spPr>
      </p:sp>
      <p:sp>
        <p:nvSpPr>
          <p:cNvPr id="16" name="Text 14"/>
          <p:cNvSpPr txBox="1"/>
          <p:nvPr/>
        </p:nvSpPr>
        <p:spPr>
          <a:xfrm>
            <a:off x="8357616" y="1947672"/>
            <a:ext cx="530352" cy="53035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9015984" y="1965960"/>
            <a:ext cx="2560320" cy="502920"/>
          </a:xfrm>
          <a:prstGeom prst="rect">
            <a:avLst/>
          </a:prstGeom>
          <a:noFill/>
          <a:ln/>
        </p:spPr>
        <p:txBody>
          <a:bodyPr wrap="square" lIns="0" tIns="0" rIns="0" bIns="0" rtlCol="0" anchor="ctr"/>
          <a:lstStyle/>
          <a:p>
            <a:pPr indent="0" marL="0">
              <a:buNone/>
            </a:pPr>
            <a:r>
              <a:rPr lang="en-US" sz="1600" b="1" dirty="0">
                <a:solidFill>
                  <a:schemeClr val="tx2"/>
                </a:solidFill>
              </a:rPr>
              <a:t>Grow Outerwear</a:t>
            </a:r>
            <a:endParaRPr lang="en-US" sz="1600" dirty="0"/>
          </a:p>
        </p:txBody>
      </p:sp>
      <p:sp>
        <p:nvSpPr>
          <p:cNvPr id="18" name="Text 16"/>
          <p:cNvSpPr txBox="1"/>
          <p:nvPr/>
        </p:nvSpPr>
        <p:spPr>
          <a:xfrm>
            <a:off x="8357616" y="2651760"/>
            <a:ext cx="3108960" cy="960120"/>
          </a:xfrm>
          <a:prstGeom prst="rect">
            <a:avLst/>
          </a:prstGeom>
          <a:noFill/>
          <a:ln/>
        </p:spPr>
        <p:txBody>
          <a:bodyPr wrap="square" lIns="0" tIns="0" rIns="0" bIns="0" rtlCol="0" anchor="t"/>
          <a:lstStyle/>
          <a:p>
            <a:pPr indent="0" marL="0">
              <a:buNone/>
            </a:pPr>
            <a:r>
              <a:rPr lang="en-US" sz="1300" dirty="0">
                <a:solidFill>
                  <a:schemeClr val="tx1"/>
                </a:solidFill>
              </a:rPr>
              <a:t>Only Jacket and Coat today, 8% of revenue. Add a few products and push them in Fall and Winter.</a:t>
            </a:r>
            <a:endParaRPr lang="en-US" sz="1300" dirty="0"/>
          </a:p>
        </p:txBody>
      </p:sp>
      <p:sp>
        <p:nvSpPr>
          <p:cNvPr id="19" name="Shape 17"/>
          <p:cNvSpPr/>
          <p:nvPr/>
        </p:nvSpPr>
        <p:spPr>
          <a:xfrm>
            <a:off x="548640" y="3931920"/>
            <a:ext cx="3593592" cy="2011680"/>
          </a:xfrm>
          <a:prstGeom prst="roundRect">
            <a:avLst>
              <a:gd name="adj" fmla="val 363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20" name="Shape 18"/>
          <p:cNvSpPr/>
          <p:nvPr/>
        </p:nvSpPr>
        <p:spPr>
          <a:xfrm>
            <a:off x="804672" y="4187952"/>
            <a:ext cx="530352" cy="530352"/>
          </a:xfrm>
          <a:prstGeom prst="ellipse">
            <a:avLst/>
          </a:prstGeom>
          <a:solidFill>
            <a:schemeClr val="accent1"/>
          </a:solidFill>
          <a:ln w="12700">
            <a:solidFill>
              <a:schemeClr val="accent1"/>
            </a:solidFill>
            <a:prstDash val="solid"/>
          </a:ln>
        </p:spPr>
      </p:sp>
      <p:sp>
        <p:nvSpPr>
          <p:cNvPr id="21" name="Text 19"/>
          <p:cNvSpPr txBox="1"/>
          <p:nvPr/>
        </p:nvSpPr>
        <p:spPr>
          <a:xfrm>
            <a:off x="804672" y="4187952"/>
            <a:ext cx="530352" cy="53035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1463040" y="4206240"/>
            <a:ext cx="2560320" cy="502920"/>
          </a:xfrm>
          <a:prstGeom prst="rect">
            <a:avLst/>
          </a:prstGeom>
          <a:noFill/>
          <a:ln/>
        </p:spPr>
        <p:txBody>
          <a:bodyPr wrap="square" lIns="0" tIns="0" rIns="0" bIns="0" rtlCol="0" anchor="ctr"/>
          <a:lstStyle/>
          <a:p>
            <a:pPr indent="0" marL="0">
              <a:buNone/>
            </a:pPr>
            <a:r>
              <a:rPr lang="en-US" sz="1600" b="1" dirty="0">
                <a:solidFill>
                  <a:schemeClr val="tx2"/>
                </a:solidFill>
              </a:rPr>
              <a:t>Protect the top sellers</a:t>
            </a:r>
            <a:endParaRPr lang="en-US" sz="1600" dirty="0"/>
          </a:p>
        </p:txBody>
      </p:sp>
      <p:sp>
        <p:nvSpPr>
          <p:cNvPr id="23" name="Text 21"/>
          <p:cNvSpPr txBox="1"/>
          <p:nvPr/>
        </p:nvSpPr>
        <p:spPr>
          <a:xfrm>
            <a:off x="804672" y="4892040"/>
            <a:ext cx="3108960" cy="960120"/>
          </a:xfrm>
          <a:prstGeom prst="rect">
            <a:avLst/>
          </a:prstGeom>
          <a:noFill/>
          <a:ln/>
        </p:spPr>
        <p:txBody>
          <a:bodyPr wrap="square" lIns="0" tIns="0" rIns="0" bIns="0" rtlCol="0" anchor="t"/>
          <a:lstStyle/>
          <a:p>
            <a:pPr indent="0" marL="0">
              <a:buNone/>
            </a:pPr>
            <a:r>
              <a:rPr lang="en-US" sz="1300" dirty="0">
                <a:solidFill>
                  <a:schemeClr val="tx1"/>
                </a:solidFill>
              </a:rPr>
              <a:t>Clothing and Accessories are 77% of revenue. Blouse, Pants, Shirt and Jewelry should never run out.</a:t>
            </a:r>
            <a:endParaRPr lang="en-US" sz="1300" dirty="0"/>
          </a:p>
        </p:txBody>
      </p:sp>
      <p:sp>
        <p:nvSpPr>
          <p:cNvPr id="24" name="Shape 22"/>
          <p:cNvSpPr/>
          <p:nvPr/>
        </p:nvSpPr>
        <p:spPr>
          <a:xfrm>
            <a:off x="4325112" y="3931920"/>
            <a:ext cx="3593592" cy="2011680"/>
          </a:xfrm>
          <a:prstGeom prst="roundRect">
            <a:avLst>
              <a:gd name="adj" fmla="val 363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25" name="Shape 23"/>
          <p:cNvSpPr/>
          <p:nvPr/>
        </p:nvSpPr>
        <p:spPr>
          <a:xfrm>
            <a:off x="4581144" y="4187952"/>
            <a:ext cx="530352" cy="530352"/>
          </a:xfrm>
          <a:prstGeom prst="ellipse">
            <a:avLst/>
          </a:prstGeom>
          <a:solidFill>
            <a:schemeClr val="accent1"/>
          </a:solidFill>
          <a:ln w="12700">
            <a:solidFill>
              <a:schemeClr val="accent1"/>
            </a:solidFill>
            <a:prstDash val="solid"/>
          </a:ln>
        </p:spPr>
      </p:sp>
      <p:sp>
        <p:nvSpPr>
          <p:cNvPr id="26" name="Text 24"/>
          <p:cNvSpPr txBox="1"/>
          <p:nvPr/>
        </p:nvSpPr>
        <p:spPr>
          <a:xfrm>
            <a:off x="4581144" y="4187952"/>
            <a:ext cx="530352" cy="53035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5"/>
          <p:cNvSpPr txBox="1"/>
          <p:nvPr/>
        </p:nvSpPr>
        <p:spPr>
          <a:xfrm>
            <a:off x="5239512" y="4206240"/>
            <a:ext cx="2560320" cy="502920"/>
          </a:xfrm>
          <a:prstGeom prst="rect">
            <a:avLst/>
          </a:prstGeom>
          <a:noFill/>
          <a:ln/>
        </p:spPr>
        <p:txBody>
          <a:bodyPr wrap="square" lIns="0" tIns="0" rIns="0" bIns="0" rtlCol="0" anchor="ctr"/>
          <a:lstStyle/>
          <a:p>
            <a:pPr indent="0" marL="0">
              <a:buNone/>
            </a:pPr>
            <a:r>
              <a:rPr lang="en-US" sz="1600" b="1" dirty="0">
                <a:solidFill>
                  <a:schemeClr val="tx2"/>
                </a:solidFill>
              </a:rPr>
              <a:t>Focus on two age groups</a:t>
            </a:r>
            <a:endParaRPr lang="en-US" sz="1600" dirty="0"/>
          </a:p>
        </p:txBody>
      </p:sp>
      <p:sp>
        <p:nvSpPr>
          <p:cNvPr id="28" name="Text 26"/>
          <p:cNvSpPr txBox="1"/>
          <p:nvPr/>
        </p:nvSpPr>
        <p:spPr>
          <a:xfrm>
            <a:off x="4581144" y="4892040"/>
            <a:ext cx="3108960" cy="960120"/>
          </a:xfrm>
          <a:prstGeom prst="rect">
            <a:avLst/>
          </a:prstGeom>
          <a:noFill/>
          <a:ln/>
        </p:spPr>
        <p:txBody>
          <a:bodyPr wrap="square" lIns="0" tIns="0" rIns="0" bIns="0" rtlCol="0" anchor="t"/>
          <a:lstStyle/>
          <a:p>
            <a:pPr indent="0" marL="0">
              <a:buNone/>
            </a:pPr>
            <a:r>
              <a:rPr lang="en-US" sz="1300" dirty="0">
                <a:solidFill>
                  <a:schemeClr val="tx1"/>
                </a:solidFill>
              </a:rPr>
              <a:t>18 to 31 and 45 to 57 earn the most. Use the age slicer to see what each group buys first.</a:t>
            </a:r>
            <a:endParaRPr lang="en-US" sz="1300" dirty="0"/>
          </a:p>
        </p:txBody>
      </p:sp>
      <p:sp>
        <p:nvSpPr>
          <p:cNvPr id="29" name="Shape 27"/>
          <p:cNvSpPr/>
          <p:nvPr/>
        </p:nvSpPr>
        <p:spPr>
          <a:xfrm>
            <a:off x="8101584" y="3931920"/>
            <a:ext cx="3593592" cy="2011680"/>
          </a:xfrm>
          <a:prstGeom prst="roundRect">
            <a:avLst>
              <a:gd name="adj" fmla="val 3636"/>
            </a:avLst>
          </a:prstGeom>
          <a:solidFill>
            <a:schemeClr val="bg1"/>
          </a:solidFill>
          <a:ln w="9525">
            <a:solidFill>
              <a:srgbClr val="D9DFF0"/>
            </a:solidFill>
            <a:prstDash val="solid"/>
          </a:ln>
          <a:effectLst>
            <a:outerShdw sx="100000" sy="100000" kx="0" ky="0" algn="bl" rotWithShape="0" blurRad="101600" dist="25400" dir="5400000">
              <a:srgbClr val="0E1F6E">
                <a:alpha val="12000"/>
              </a:srgbClr>
            </a:outerShdw>
          </a:effectLst>
        </p:spPr>
      </p:sp>
      <p:sp>
        <p:nvSpPr>
          <p:cNvPr id="30" name="Shape 28"/>
          <p:cNvSpPr/>
          <p:nvPr/>
        </p:nvSpPr>
        <p:spPr>
          <a:xfrm>
            <a:off x="8357616" y="4187952"/>
            <a:ext cx="530352" cy="530352"/>
          </a:xfrm>
          <a:prstGeom prst="ellipse">
            <a:avLst/>
          </a:prstGeom>
          <a:solidFill>
            <a:schemeClr val="accent1"/>
          </a:solidFill>
          <a:ln w="12700">
            <a:solidFill>
              <a:schemeClr val="accent1"/>
            </a:solidFill>
            <a:prstDash val="solid"/>
          </a:ln>
        </p:spPr>
      </p:sp>
      <p:sp>
        <p:nvSpPr>
          <p:cNvPr id="31" name="Text 29"/>
          <p:cNvSpPr txBox="1"/>
          <p:nvPr/>
        </p:nvSpPr>
        <p:spPr>
          <a:xfrm>
            <a:off x="8357616" y="4187952"/>
            <a:ext cx="530352" cy="53035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xt 30"/>
          <p:cNvSpPr txBox="1"/>
          <p:nvPr/>
        </p:nvSpPr>
        <p:spPr>
          <a:xfrm>
            <a:off x="9015984" y="4206240"/>
            <a:ext cx="2560320" cy="502920"/>
          </a:xfrm>
          <a:prstGeom prst="rect">
            <a:avLst/>
          </a:prstGeom>
          <a:noFill/>
          <a:ln/>
        </p:spPr>
        <p:txBody>
          <a:bodyPr wrap="square" lIns="0" tIns="0" rIns="0" bIns="0" rtlCol="0" anchor="ctr"/>
          <a:lstStyle/>
          <a:p>
            <a:pPr indent="0" marL="0">
              <a:buNone/>
            </a:pPr>
            <a:r>
              <a:rPr lang="en-US" sz="1600" b="1" dirty="0">
                <a:solidFill>
                  <a:schemeClr val="tx2"/>
                </a:solidFill>
              </a:rPr>
              <a:t>Promote express at checkout</a:t>
            </a:r>
            <a:endParaRPr lang="en-US" sz="1600" dirty="0"/>
          </a:p>
        </p:txBody>
      </p:sp>
      <p:sp>
        <p:nvSpPr>
          <p:cNvPr id="33" name="Text 31"/>
          <p:cNvSpPr txBox="1"/>
          <p:nvPr/>
        </p:nvSpPr>
        <p:spPr>
          <a:xfrm>
            <a:off x="8357616" y="4892040"/>
            <a:ext cx="3108960" cy="960120"/>
          </a:xfrm>
          <a:prstGeom prst="rect">
            <a:avLst/>
          </a:prstGeom>
          <a:noFill/>
          <a:ln/>
        </p:spPr>
        <p:txBody>
          <a:bodyPr wrap="square" lIns="0" tIns="0" rIns="0" bIns="0" rtlCol="0" anchor="t"/>
          <a:lstStyle/>
          <a:p>
            <a:pPr indent="0" marL="0">
              <a:buNone/>
            </a:pPr>
            <a:r>
              <a:rPr lang="en-US" sz="1300" dirty="0">
                <a:solidFill>
                  <a:schemeClr val="tx1"/>
                </a:solidFill>
              </a:rPr>
              <a:t>Express orders run about $2 larger. Offer it free above a spending threshold.</a:t>
            </a:r>
            <a:endParaRPr lang="en-US" sz="13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640080"/>
          </a:xfrm>
          <a:prstGeom prst="rect">
            <a:avLst/>
          </a:prstGeom>
          <a:noFill/>
          <a:ln/>
        </p:spPr>
        <p:txBody>
          <a:bodyPr wrap="square" lIns="0" tIns="0" rIns="0" bIns="0" rtlCol="0" anchor="ctr"/>
          <a:lstStyle/>
          <a:p>
            <a:pPr algn="l" indent="0" marL="0">
              <a:buNone/>
            </a:pPr>
            <a:r>
              <a:rPr lang="en-US" sz="3200" b="1" dirty="0">
                <a:solidFill>
                  <a:schemeClr val="accent1"/>
                </a:solidFill>
              </a:rPr>
              <a:t>Where the data runs out</a:t>
            </a:r>
            <a:endParaRPr lang="en-US" sz="3200" dirty="0"/>
          </a:p>
        </p:txBody>
      </p:sp>
      <p:sp>
        <p:nvSpPr>
          <p:cNvPr id="3" name="Text 1"/>
          <p:cNvSpPr/>
          <p:nvPr>
            <p:ph idx="102"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600" dirty="0">
                <a:solidFill>
                  <a:schemeClr val="accent3"/>
                </a:solidFill>
              </a:rPr>
              <a:t>Four things to keep in mind before pushing these findings further.</a:t>
            </a:r>
            <a:endParaRPr lang="en-US" sz="1600" dirty="0"/>
          </a:p>
        </p:txBody>
      </p:sp>
      <p:sp>
        <p:nvSpPr>
          <p:cNvPr id="4" name="Shape 2"/>
          <p:cNvSpPr/>
          <p:nvPr/>
        </p:nvSpPr>
        <p:spPr>
          <a:xfrm>
            <a:off x="548640" y="1764792"/>
            <a:ext cx="603504" cy="603504"/>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11586" y="1927738"/>
            <a:ext cx="277612" cy="277612"/>
          </a:xfrm>
          <a:prstGeom prst="rect">
            <a:avLst/>
          </a:prstGeom>
        </p:spPr>
      </p:pic>
      <p:sp>
        <p:nvSpPr>
          <p:cNvPr id="6" name="Text 3"/>
          <p:cNvSpPr txBox="1"/>
          <p:nvPr/>
        </p:nvSpPr>
        <p:spPr>
          <a:xfrm>
            <a:off x="1371600" y="1709928"/>
            <a:ext cx="5852160" cy="320040"/>
          </a:xfrm>
          <a:prstGeom prst="rect">
            <a:avLst/>
          </a:prstGeom>
          <a:noFill/>
          <a:ln/>
        </p:spPr>
        <p:txBody>
          <a:bodyPr wrap="square" lIns="0" tIns="0" rIns="0" bIns="0" rtlCol="0" anchor="t"/>
          <a:lstStyle/>
          <a:p>
            <a:pPr indent="0" marL="0">
              <a:buNone/>
            </a:pPr>
            <a:r>
              <a:rPr lang="en-US" sz="1600" b="1" dirty="0">
                <a:solidFill>
                  <a:schemeClr val="tx2"/>
                </a:solidFill>
              </a:rPr>
              <a:t>Skewed by gender</a:t>
            </a:r>
            <a:endParaRPr lang="en-US" sz="1600" dirty="0"/>
          </a:p>
        </p:txBody>
      </p:sp>
      <p:sp>
        <p:nvSpPr>
          <p:cNvPr id="7" name="Text 4"/>
          <p:cNvSpPr txBox="1"/>
          <p:nvPr/>
        </p:nvSpPr>
        <p:spPr>
          <a:xfrm>
            <a:off x="1371600" y="2057400"/>
            <a:ext cx="5852160" cy="640080"/>
          </a:xfrm>
          <a:prstGeom prst="rect">
            <a:avLst/>
          </a:prstGeom>
          <a:noFill/>
          <a:ln/>
        </p:spPr>
        <p:txBody>
          <a:bodyPr wrap="square" lIns="0" tIns="0" rIns="0" bIns="0" rtlCol="0" anchor="t"/>
          <a:lstStyle/>
          <a:p>
            <a:pPr indent="0" marL="0">
              <a:buNone/>
            </a:pPr>
            <a:r>
              <a:rPr lang="en-US" sz="1300" dirty="0">
                <a:solidFill>
                  <a:schemeClr val="accent3"/>
                </a:solidFill>
              </a:rPr>
              <a:t>All subscribers and discount users are male; none of the 1,248 women. Likely how the data was generated, so read Q1, Q2 and Q5 with care.</a:t>
            </a:r>
            <a:endParaRPr lang="en-US" sz="1300" dirty="0"/>
          </a:p>
        </p:txBody>
      </p:sp>
      <p:sp>
        <p:nvSpPr>
          <p:cNvPr id="8" name="Shape 5"/>
          <p:cNvSpPr/>
          <p:nvPr/>
        </p:nvSpPr>
        <p:spPr>
          <a:xfrm>
            <a:off x="548640" y="2862072"/>
            <a:ext cx="603504" cy="603504"/>
          </a:xfrm>
          <a:prstGeom prst="ellipse">
            <a:avLst/>
          </a:prstGeom>
          <a:solidFill>
            <a:schemeClr val="bg2"/>
          </a:solidFill>
          <a:ln w="12700">
            <a:solidFill>
              <a:schemeClr val="bg2"/>
            </a:solidFill>
            <a:prstDash val="solid"/>
          </a:ln>
        </p:spPr>
      </p:sp>
      <p:pic>
        <p:nvPicPr>
          <p:cNvPr id="9" name="Image 1" descr="preencoded.png">    </p:cNvPr>
          <p:cNvPicPr>
            <a:picLocks noChangeAspect="1"/>
          </p:cNvPicPr>
          <p:nvPr/>
        </p:nvPicPr>
        <p:blipFill>
          <a:blip r:embed="rId2"/>
          <a:stretch>
            <a:fillRect/>
          </a:stretch>
        </p:blipFill>
        <p:spPr>
          <a:xfrm>
            <a:off x="711586" y="3025018"/>
            <a:ext cx="277612" cy="277612"/>
          </a:xfrm>
          <a:prstGeom prst="rect">
            <a:avLst/>
          </a:prstGeom>
        </p:spPr>
      </p:pic>
      <p:sp>
        <p:nvSpPr>
          <p:cNvPr id="10" name="Text 6"/>
          <p:cNvSpPr txBox="1"/>
          <p:nvPr/>
        </p:nvSpPr>
        <p:spPr>
          <a:xfrm>
            <a:off x="1371600" y="2807208"/>
            <a:ext cx="5852160" cy="320040"/>
          </a:xfrm>
          <a:prstGeom prst="rect">
            <a:avLst/>
          </a:prstGeom>
          <a:noFill/>
          <a:ln/>
        </p:spPr>
        <p:txBody>
          <a:bodyPr wrap="square" lIns="0" tIns="0" rIns="0" bIns="0" rtlCol="0" anchor="t"/>
          <a:lstStyle/>
          <a:p>
            <a:pPr indent="0" marL="0">
              <a:buNone/>
            </a:pPr>
            <a:r>
              <a:rPr lang="en-US" sz="1600" b="1" dirty="0">
                <a:solidFill>
                  <a:schemeClr val="tx2"/>
                </a:solidFill>
              </a:rPr>
              <a:t>No purchase dates</a:t>
            </a:r>
            <a:endParaRPr lang="en-US" sz="1600" dirty="0"/>
          </a:p>
        </p:txBody>
      </p:sp>
      <p:sp>
        <p:nvSpPr>
          <p:cNvPr id="11" name="Text 7"/>
          <p:cNvSpPr txBox="1"/>
          <p:nvPr/>
        </p:nvSpPr>
        <p:spPr>
          <a:xfrm>
            <a:off x="1371600" y="3154680"/>
            <a:ext cx="5852160" cy="640080"/>
          </a:xfrm>
          <a:prstGeom prst="rect">
            <a:avLst/>
          </a:prstGeom>
          <a:noFill/>
          <a:ln/>
        </p:spPr>
        <p:txBody>
          <a:bodyPr wrap="square" lIns="0" tIns="0" rIns="0" bIns="0" rtlCol="0" anchor="t"/>
          <a:lstStyle/>
          <a:p>
            <a:pPr indent="0" marL="0">
              <a:buNone/>
            </a:pPr>
            <a:r>
              <a:rPr lang="en-US" sz="1300" dirty="0">
                <a:solidFill>
                  <a:schemeClr val="accent3"/>
                </a:solidFill>
              </a:rPr>
              <a:t>Season is the only time column, so trends over time can't be measured.</a:t>
            </a:r>
            <a:endParaRPr lang="en-US" sz="1300" dirty="0"/>
          </a:p>
        </p:txBody>
      </p:sp>
      <p:sp>
        <p:nvSpPr>
          <p:cNvPr id="12" name="Shape 8"/>
          <p:cNvSpPr/>
          <p:nvPr/>
        </p:nvSpPr>
        <p:spPr>
          <a:xfrm>
            <a:off x="548640" y="3959352"/>
            <a:ext cx="603504" cy="603504"/>
          </a:xfrm>
          <a:prstGeom prst="ellipse">
            <a:avLst/>
          </a:prstGeom>
          <a:solidFill>
            <a:schemeClr val="bg2"/>
          </a:solidFill>
          <a:ln w="12700">
            <a:solidFill>
              <a:schemeClr val="bg2"/>
            </a:solidFill>
            <a:prstDash val="solid"/>
          </a:ln>
        </p:spPr>
      </p:sp>
      <p:pic>
        <p:nvPicPr>
          <p:cNvPr id="13" name="Image 2" descr="preencoded.png">    </p:cNvPr>
          <p:cNvPicPr>
            <a:picLocks noChangeAspect="1"/>
          </p:cNvPicPr>
          <p:nvPr/>
        </p:nvPicPr>
        <p:blipFill>
          <a:blip r:embed="rId3"/>
          <a:stretch>
            <a:fillRect/>
          </a:stretch>
        </p:blipFill>
        <p:spPr>
          <a:xfrm>
            <a:off x="711586" y="4122298"/>
            <a:ext cx="277612" cy="277612"/>
          </a:xfrm>
          <a:prstGeom prst="rect">
            <a:avLst/>
          </a:prstGeom>
        </p:spPr>
      </p:pic>
      <p:sp>
        <p:nvSpPr>
          <p:cNvPr id="14" name="Text 9"/>
          <p:cNvSpPr txBox="1"/>
          <p:nvPr/>
        </p:nvSpPr>
        <p:spPr>
          <a:xfrm>
            <a:off x="1371600" y="3904488"/>
            <a:ext cx="5852160" cy="320040"/>
          </a:xfrm>
          <a:prstGeom prst="rect">
            <a:avLst/>
          </a:prstGeom>
          <a:noFill/>
          <a:ln/>
        </p:spPr>
        <p:txBody>
          <a:bodyPr wrap="square" lIns="0" tIns="0" rIns="0" bIns="0" rtlCol="0" anchor="t"/>
          <a:lstStyle/>
          <a:p>
            <a:pPr indent="0" marL="0">
              <a:buNone/>
            </a:pPr>
            <a:r>
              <a:rPr lang="en-US" sz="1600" b="1" dirty="0">
                <a:solidFill>
                  <a:schemeClr val="tx2"/>
                </a:solidFill>
              </a:rPr>
              <a:t>No first-time buyers</a:t>
            </a:r>
            <a:endParaRPr lang="en-US" sz="1600" dirty="0"/>
          </a:p>
        </p:txBody>
      </p:sp>
      <p:sp>
        <p:nvSpPr>
          <p:cNvPr id="15" name="Text 10"/>
          <p:cNvSpPr txBox="1"/>
          <p:nvPr/>
        </p:nvSpPr>
        <p:spPr>
          <a:xfrm>
            <a:off x="1371600" y="4251960"/>
            <a:ext cx="5852160" cy="640080"/>
          </a:xfrm>
          <a:prstGeom prst="rect">
            <a:avLst/>
          </a:prstGeom>
          <a:noFill/>
          <a:ln/>
        </p:spPr>
        <p:txBody>
          <a:bodyPr wrap="square" lIns="0" tIns="0" rIns="0" bIns="0" rtlCol="0" anchor="t"/>
          <a:lstStyle/>
          <a:p>
            <a:pPr indent="0" marL="0">
              <a:buNone/>
            </a:pPr>
            <a:r>
              <a:rPr lang="en-US" sz="1300" dirty="0">
                <a:solidFill>
                  <a:schemeClr val="accent3"/>
                </a:solidFill>
              </a:rPr>
              <a:t>Every customer has bought before, so the "New" segment in Q7 is always empty.</a:t>
            </a:r>
            <a:endParaRPr lang="en-US" sz="1300" dirty="0"/>
          </a:p>
        </p:txBody>
      </p:sp>
      <p:sp>
        <p:nvSpPr>
          <p:cNvPr id="16" name="Shape 11"/>
          <p:cNvSpPr/>
          <p:nvPr/>
        </p:nvSpPr>
        <p:spPr>
          <a:xfrm>
            <a:off x="548640" y="5056632"/>
            <a:ext cx="603504" cy="603504"/>
          </a:xfrm>
          <a:prstGeom prst="ellipse">
            <a:avLst/>
          </a:prstGeom>
          <a:solidFill>
            <a:schemeClr val="bg2"/>
          </a:solidFill>
          <a:ln w="12700">
            <a:solidFill>
              <a:schemeClr val="bg2"/>
            </a:solidFill>
            <a:prstDash val="solid"/>
          </a:ln>
        </p:spPr>
      </p:sp>
      <p:pic>
        <p:nvPicPr>
          <p:cNvPr id="17" name="Image 3" descr="preencoded.png">    </p:cNvPr>
          <p:cNvPicPr>
            <a:picLocks noChangeAspect="1"/>
          </p:cNvPicPr>
          <p:nvPr/>
        </p:nvPicPr>
        <p:blipFill>
          <a:blip r:embed="rId4"/>
          <a:stretch>
            <a:fillRect/>
          </a:stretch>
        </p:blipFill>
        <p:spPr>
          <a:xfrm>
            <a:off x="711586" y="5219578"/>
            <a:ext cx="277612" cy="277612"/>
          </a:xfrm>
          <a:prstGeom prst="rect">
            <a:avLst/>
          </a:prstGeom>
        </p:spPr>
      </p:pic>
      <p:sp>
        <p:nvSpPr>
          <p:cNvPr id="18" name="Text 12"/>
          <p:cNvSpPr txBox="1"/>
          <p:nvPr/>
        </p:nvSpPr>
        <p:spPr>
          <a:xfrm>
            <a:off x="1371600" y="5001768"/>
            <a:ext cx="5852160" cy="320040"/>
          </a:xfrm>
          <a:prstGeom prst="rect">
            <a:avLst/>
          </a:prstGeom>
          <a:noFill/>
          <a:ln/>
        </p:spPr>
        <p:txBody>
          <a:bodyPr wrap="square" lIns="0" tIns="0" rIns="0" bIns="0" rtlCol="0" anchor="t"/>
          <a:lstStyle/>
          <a:p>
            <a:pPr indent="0" marL="0">
              <a:buNone/>
            </a:pPr>
            <a:r>
              <a:rPr lang="en-US" sz="1600" b="1" dirty="0">
                <a:solidFill>
                  <a:schemeClr val="tx2"/>
                </a:solidFill>
              </a:rPr>
              <a:t>One column is 29% empty</a:t>
            </a:r>
            <a:endParaRPr lang="en-US" sz="1600" dirty="0"/>
          </a:p>
        </p:txBody>
      </p:sp>
      <p:sp>
        <p:nvSpPr>
          <p:cNvPr id="19" name="Text 13"/>
          <p:cNvSpPr txBox="1"/>
          <p:nvPr/>
        </p:nvSpPr>
        <p:spPr>
          <a:xfrm>
            <a:off x="1371600" y="5349240"/>
            <a:ext cx="5852160" cy="640080"/>
          </a:xfrm>
          <a:prstGeom prst="rect">
            <a:avLst/>
          </a:prstGeom>
          <a:noFill/>
          <a:ln/>
        </p:spPr>
        <p:txBody>
          <a:bodyPr wrap="square" lIns="0" tIns="0" rIns="0" bIns="0" rtlCol="0" anchor="t"/>
          <a:lstStyle/>
          <a:p>
            <a:pPr indent="0" marL="0">
              <a:buNone/>
            </a:pPr>
            <a:r>
              <a:rPr lang="en-US" sz="1300" dirty="0">
                <a:solidFill>
                  <a:schemeClr val="accent3"/>
                </a:solidFill>
              </a:rPr>
              <a:t>purchase_frequency_days, because of the capitalization bug in the mapping.</a:t>
            </a:r>
            <a:endParaRPr lang="en-US" sz="1300" dirty="0"/>
          </a:p>
        </p:txBody>
      </p:sp>
      <p:sp>
        <p:nvSpPr>
          <p:cNvPr id="20" name="Shape 14"/>
          <p:cNvSpPr/>
          <p:nvPr/>
        </p:nvSpPr>
        <p:spPr>
          <a:xfrm>
            <a:off x="7772400" y="1691640"/>
            <a:ext cx="3867912" cy="4389120"/>
          </a:xfrm>
          <a:prstGeom prst="roundRect">
            <a:avLst>
              <a:gd name="adj" fmla="val 1891"/>
            </a:avLst>
          </a:prstGeom>
          <a:solidFill>
            <a:schemeClr val="accent1"/>
          </a:solidFill>
          <a:ln w="12700">
            <a:solidFill>
              <a:schemeClr val="accent1"/>
            </a:solidFill>
            <a:prstDash val="solid"/>
          </a:ln>
        </p:spPr>
      </p:sp>
      <p:sp>
        <p:nvSpPr>
          <p:cNvPr id="21" name="Shape 15"/>
          <p:cNvSpPr/>
          <p:nvPr/>
        </p:nvSpPr>
        <p:spPr>
          <a:xfrm>
            <a:off x="8092440" y="2011680"/>
            <a:ext cx="640080" cy="640080"/>
          </a:xfrm>
          <a:prstGeom prst="ellipse">
            <a:avLst/>
          </a:prstGeom>
          <a:solidFill>
            <a:schemeClr val="bg2"/>
          </a:solidFill>
          <a:ln w="12700">
            <a:solidFill>
              <a:schemeClr val="bg2"/>
            </a:solidFill>
            <a:prstDash val="solid"/>
          </a:ln>
        </p:spPr>
      </p:sp>
      <p:pic>
        <p:nvPicPr>
          <p:cNvPr id="22" name="Image 4" descr="preencoded.png">    </p:cNvPr>
          <p:cNvPicPr>
            <a:picLocks noChangeAspect="1"/>
          </p:cNvPicPr>
          <p:nvPr/>
        </p:nvPicPr>
        <p:blipFill>
          <a:blip r:embed="rId5"/>
          <a:stretch>
            <a:fillRect/>
          </a:stretch>
        </p:blipFill>
        <p:spPr>
          <a:xfrm>
            <a:off x="8265262" y="2184502"/>
            <a:ext cx="294437" cy="294437"/>
          </a:xfrm>
          <a:prstGeom prst="rect">
            <a:avLst/>
          </a:prstGeom>
        </p:spPr>
      </p:pic>
      <p:sp>
        <p:nvSpPr>
          <p:cNvPr id="23" name="Text 16"/>
          <p:cNvSpPr txBox="1"/>
          <p:nvPr/>
        </p:nvSpPr>
        <p:spPr>
          <a:xfrm>
            <a:off x="8092440" y="2880360"/>
            <a:ext cx="3291840" cy="411480"/>
          </a:xfrm>
          <a:prstGeom prst="rect">
            <a:avLst/>
          </a:prstGeom>
          <a:noFill/>
          <a:ln/>
        </p:spPr>
        <p:txBody>
          <a:bodyPr wrap="square" lIns="0" tIns="0" rIns="0" bIns="0" rtlCol="0" anchor="t"/>
          <a:lstStyle/>
          <a:p>
            <a:pPr indent="0" marL="0">
              <a:buNone/>
            </a:pPr>
            <a:r>
              <a:rPr lang="en-US" sz="2000" b="1" dirty="0">
                <a:solidFill>
                  <a:schemeClr val="bg1"/>
                </a:solidFill>
              </a:rPr>
              <a:t>Next round of analysis</a:t>
            </a:r>
            <a:endParaRPr lang="en-US" sz="2000" dirty="0"/>
          </a:p>
        </p:txBody>
      </p:sp>
      <p:sp>
        <p:nvSpPr>
          <p:cNvPr id="24" name="Text 17"/>
          <p:cNvSpPr txBox="1"/>
          <p:nvPr/>
        </p:nvSpPr>
        <p:spPr>
          <a:xfrm>
            <a:off x="8092440" y="3383280"/>
            <a:ext cx="3291840" cy="2377440"/>
          </a:xfrm>
          <a:prstGeom prst="rect">
            <a:avLst/>
          </a:prstGeom>
          <a:noFill/>
          <a:ln/>
        </p:spPr>
        <p:txBody>
          <a:bodyPr wrap="square" lIns="0" tIns="0" rIns="0" bIns="0" rtlCol="0" anchor="t"/>
          <a:lstStyle/>
          <a:p>
            <a:pPr indent="0" marL="0">
              <a:buNone/>
            </a:pPr>
            <a:r>
              <a:rPr lang="en-US" sz="1400" dirty="0">
                <a:solidFill>
                  <a:schemeClr val="bg1"/>
                </a:solidFill>
              </a:rPr>
              <a:t>A dataset with purchase dates and a real mix of new and returning customers would open up trend and retention analysis, and let us test whether a reworked subscription actually changes behavior.</a:t>
            </a:r>
            <a:endParaRPr lang="en-US" sz="1400" dirty="0"/>
          </a:p>
        </p:txBody>
      </p:sp>
      <p:sp>
        <p:nvSpPr>
          <p:cNvPr id="25" name="Slide Number Placeholder 0"/>
          <p:cNvSpPr>
            <a:spLocks noGrp="1"/>
          </p:cNvSpPr>
          <p:nvPr>
            <p:ph type="sldNum" sz="quarter" idx="4294967295"/>
          </p:nvPr>
        </p:nvSpPr>
        <p:spPr>
          <a:xfrm>
            <a:off x="11274552"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1554480" y="-2103120"/>
            <a:ext cx="4206240" cy="4206240"/>
          </a:xfrm>
          <a:prstGeom prst="ellipse">
            <a:avLst/>
          </a:prstGeom>
          <a:ln w="431800">
            <a:solidFill>
              <a:srgbClr val="A9BCFF">
                <a:alpha val="65000"/>
              </a:srgbClr>
            </a:solidFill>
            <a:prstDash val="solid"/>
          </a:ln>
        </p:spPr>
      </p:sp>
      <p:sp>
        <p:nvSpPr>
          <p:cNvPr id="3" name="Shape 1"/>
          <p:cNvSpPr/>
          <p:nvPr/>
        </p:nvSpPr>
        <p:spPr>
          <a:xfrm>
            <a:off x="9509760" y="4206240"/>
            <a:ext cx="4023360" cy="4023360"/>
          </a:xfrm>
          <a:prstGeom prst="ellipse">
            <a:avLst/>
          </a:prstGeom>
          <a:ln w="431800">
            <a:solidFill>
              <a:srgbClr val="FFFFFF">
                <a:alpha val="80000"/>
              </a:srgbClr>
            </a:solidFill>
            <a:prstDash val="solid"/>
          </a:ln>
        </p:spPr>
      </p:sp>
      <p:sp>
        <p:nvSpPr>
          <p:cNvPr id="4" name="Text 2"/>
          <p:cNvSpPr txBox="1"/>
          <p:nvPr/>
        </p:nvSpPr>
        <p:spPr>
          <a:xfrm>
            <a:off x="2377440" y="1554480"/>
            <a:ext cx="73152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THE SHORT VERSION</a:t>
            </a:r>
            <a:endParaRPr lang="en-US" sz="1400" dirty="0"/>
          </a:p>
        </p:txBody>
      </p:sp>
      <p:sp>
        <p:nvSpPr>
          <p:cNvPr id="5" name="Text 3"/>
          <p:cNvSpPr txBox="1"/>
          <p:nvPr/>
        </p:nvSpPr>
        <p:spPr>
          <a:xfrm>
            <a:off x="2377440" y="2011680"/>
            <a:ext cx="7589520" cy="1737360"/>
          </a:xfrm>
          <a:prstGeom prst="rect">
            <a:avLst/>
          </a:prstGeom>
          <a:noFill/>
          <a:ln/>
        </p:spPr>
        <p:txBody>
          <a:bodyPr wrap="square" lIns="0" tIns="0" rIns="0" bIns="0" rtlCol="0" anchor="t"/>
          <a:lstStyle/>
          <a:p>
            <a:pPr indent="0" marL="0">
              <a:buNone/>
            </a:pPr>
            <a:r>
              <a:rPr lang="en-US" sz="3400" b="1" dirty="0">
                <a:solidFill>
                  <a:schemeClr val="bg1"/>
                </a:solidFill>
              </a:rPr>
              <a:t>Subscriptions and discounts aren't changing how much people spend. That's where to start.</a:t>
            </a:r>
            <a:endParaRPr lang="en-US" sz="3400" dirty="0"/>
          </a:p>
        </p:txBody>
      </p:sp>
      <p:sp>
        <p:nvSpPr>
          <p:cNvPr id="6" name="Text 4"/>
          <p:cNvSpPr txBox="1"/>
          <p:nvPr/>
        </p:nvSpPr>
        <p:spPr>
          <a:xfrm>
            <a:off x="2377440" y="4206240"/>
            <a:ext cx="7315200" cy="548640"/>
          </a:xfrm>
          <a:prstGeom prst="rect">
            <a:avLst/>
          </a:prstGeom>
          <a:noFill/>
          <a:ln/>
        </p:spPr>
        <p:txBody>
          <a:bodyPr wrap="square" lIns="0" tIns="0" rIns="0" bIns="0" rtlCol="0" anchor="t"/>
          <a:lstStyle/>
          <a:p>
            <a:pPr indent="0" marL="0">
              <a:buNone/>
            </a:pPr>
            <a:r>
              <a:rPr lang="en-US" sz="2400" dirty="0">
                <a:solidFill>
                  <a:schemeClr val="bg1"/>
                </a:solidFill>
              </a:rPr>
              <a:t>Thank you  ·  Questions?</a:t>
            </a:r>
            <a:endParaRPr lang="en-US" sz="2400" dirty="0"/>
          </a:p>
        </p:txBody>
      </p:sp>
      <p:sp>
        <p:nvSpPr>
          <p:cNvPr id="7" name="Text 5"/>
          <p:cNvSpPr txBox="1"/>
          <p:nvPr/>
        </p:nvSpPr>
        <p:spPr>
          <a:xfrm>
            <a:off x="2377440" y="4846320"/>
            <a:ext cx="7315200" cy="365760"/>
          </a:xfrm>
          <a:prstGeom prst="rect">
            <a:avLst/>
          </a:prstGeom>
          <a:noFill/>
          <a:ln/>
        </p:spPr>
        <p:txBody>
          <a:bodyPr wrap="square" lIns="0" tIns="0" rIns="0" bIns="0" rtlCol="0" anchor="t"/>
          <a:lstStyle/>
          <a:p>
            <a:pPr indent="0" marL="0">
              <a:buNone/>
            </a:pPr>
            <a:r>
              <a:rPr lang="en-US" sz="1400" dirty="0">
                <a:solidFill>
                  <a:schemeClr val="accent2"/>
                </a:solidFill>
              </a:rPr>
              <a:t>Vibhav   |   Python · PostgreSQL · Power BI</a:t>
            </a:r>
            <a:endParaRPr lang="en-US" sz="1400" dirty="0"/>
          </a:p>
        </p:txBody>
      </p:sp>
    </p:spTree>
  </p:cSld>
  <p:clrMapOvr>
    <a:masterClrMapping/>
  </p:clrMapOvr>
</p:sld>
</file>

<file path=ppt/theme/theme1.xml><?xml version="1.0" encoding="utf-8"?>
<a:theme xmlns:a="http://schemas.openxmlformats.org/drawingml/2006/main" name="Shopping Analysis Blue">
  <a:themeElements>
    <a:clrScheme name="Shopping Analysis Blue">
      <a:dk1>
        <a:srgbClr val="1E2433"/>
      </a:dk1>
      <a:lt1>
        <a:srgbClr val="FFFFFF"/>
      </a:lt1>
      <a:dk2>
        <a:srgbClr val="0E1F6E"/>
      </a:dk2>
      <a:lt2>
        <a:srgbClr val="EEF2FF"/>
      </a:lt2>
      <a:accent1>
        <a:srgbClr val="1C3FD6"/>
      </a:accent1>
      <a:accent2>
        <a:srgbClr val="A9BCFF"/>
      </a:accent2>
      <a:accent3>
        <a:srgbClr val="6B7385"/>
      </a:accent3>
      <a:accent4>
        <a:srgbClr val="F2A13B"/>
      </a:accent4>
      <a:accent5>
        <a:srgbClr val="4A67E8"/>
      </a:accent5>
      <a:accent6>
        <a:srgbClr val="C9D3F5"/>
      </a:accent6>
      <a:hlink>
        <a:srgbClr val="1C3FD6"/>
      </a:hlink>
      <a:folHlink>
        <a:srgbClr val="0E1F6E"/>
      </a:folHlink>
    </a:clrScheme>
    <a:fontScheme name="Shopping Analysis Blu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Behavior Analysis</dc:title>
  <dc:subject>PptxGenJS Presentation</dc:subject>
  <dc:creator>Vibhav</dc:creator>
  <cp:lastModifiedBy>Vibhav</cp:lastModifiedBy>
  <cp:revision>1</cp:revision>
  <dcterms:created xsi:type="dcterms:W3CDTF">2026-10-30T02:45:57Z</dcterms:created>
  <dcterms:modified xsi:type="dcterms:W3CDTF">2026-10-30T02:45:57Z</dcterms:modified>
</cp:coreProperties>
</file>